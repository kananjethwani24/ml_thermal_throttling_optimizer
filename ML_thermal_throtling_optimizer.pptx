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9"/>
  </p:notesMasterIdLst>
  <p:sldIdLst>
    <p:sldId id="256" r:id="rId2"/>
    <p:sldId id="258" r:id="rId3"/>
    <p:sldId id="259" r:id="rId4"/>
    <p:sldId id="275" r:id="rId5"/>
    <p:sldId id="276" r:id="rId6"/>
    <p:sldId id="277" r:id="rId7"/>
    <p:sldId id="260" r:id="rId8"/>
    <p:sldId id="261" r:id="rId9"/>
    <p:sldId id="262" r:id="rId10"/>
    <p:sldId id="263" r:id="rId11"/>
    <p:sldId id="264" r:id="rId12"/>
    <p:sldId id="272" r:id="rId13"/>
    <p:sldId id="265" r:id="rId14"/>
    <p:sldId id="267" r:id="rId15"/>
    <p:sldId id="273" r:id="rId16"/>
    <p:sldId id="274" r:id="rId17"/>
    <p:sldId id="270" r:id="rId18"/>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6E4B75-6524-484E-B9FE-960C49006CDB}" v="61" dt="2025-12-01T17:59:08.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947" autoAdjust="0"/>
  </p:normalViewPr>
  <p:slideViewPr>
    <p:cSldViewPr snapToGrid="0">
      <p:cViewPr varScale="1">
        <p:scale>
          <a:sx n="65" d="100"/>
          <a:sy n="65" d="100"/>
        </p:scale>
        <p:origin x="102" y="1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6805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9202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8940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9582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88158C7-7959-3AA5-3B71-6DC2009C1154}"/>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BA189BA3-4D92-A041-7BF5-624ADA143F2A}"/>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a:extLst>
              <a:ext uri="{FF2B5EF4-FFF2-40B4-BE49-F238E27FC236}">
                <a16:creationId xmlns:a16="http://schemas.microsoft.com/office/drawing/2014/main" id="{7D4E2789-2C32-C42B-C291-83A3A9AE1DC7}"/>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8489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3733C950-929B-FC6F-EF23-49B3CB7738FA}"/>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118620CF-5F87-53DC-EBC5-4583A88256F4}"/>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a:extLst>
              <a:ext uri="{FF2B5EF4-FFF2-40B4-BE49-F238E27FC236}">
                <a16:creationId xmlns:a16="http://schemas.microsoft.com/office/drawing/2014/main" id="{25730368-C935-8527-136A-294F39A372C2}"/>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6827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DC3B28A1-A03B-47C1-D37F-B101379CC168}"/>
            </a:ext>
          </a:extLst>
        </p:cNvPr>
        <p:cNvGrpSpPr/>
        <p:nvPr/>
      </p:nvGrpSpPr>
      <p:grpSpPr>
        <a:xfrm>
          <a:off x="0" y="0"/>
          <a:ext cx="0" cy="0"/>
          <a:chOff x="0" y="0"/>
          <a:chExt cx="0" cy="0"/>
        </a:xfrm>
      </p:grpSpPr>
      <p:sp>
        <p:nvSpPr>
          <p:cNvPr id="155" name="Google Shape;155;p6:notes">
            <a:extLst>
              <a:ext uri="{FF2B5EF4-FFF2-40B4-BE49-F238E27FC236}">
                <a16:creationId xmlns:a16="http://schemas.microsoft.com/office/drawing/2014/main" id="{6A62408D-8B5C-B5EB-685C-DD76F05FD7D3}"/>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a:extLst>
              <a:ext uri="{FF2B5EF4-FFF2-40B4-BE49-F238E27FC236}">
                <a16:creationId xmlns:a16="http://schemas.microsoft.com/office/drawing/2014/main" id="{6DB054BD-8A1C-8DF5-7D6F-01EEA4851D83}"/>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5633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480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832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0174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8255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8138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2669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extLst>
      <p:ext uri="{BB962C8B-B14F-4D97-AF65-F5344CB8AC3E}">
        <p14:creationId xmlns:p14="http://schemas.microsoft.com/office/powerpoint/2010/main" val="607140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746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421879" y="4093121"/>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3200" b="1" dirty="0">
                <a:solidFill>
                  <a:srgbClr val="FF0000"/>
                </a:solidFill>
                <a:latin typeface="Bookman Old Style"/>
                <a:ea typeface="Bookman Old Style"/>
                <a:cs typeface="Bookman Old Style"/>
                <a:sym typeface="Bookman Old Style"/>
              </a:rPr>
              <a:t>ML-Based Real-Time Thermal Throttling Optimizer</a:t>
            </a:r>
            <a:endParaRPr lang="en-IN" sz="3200" b="1" dirty="0">
              <a:solidFill>
                <a:srgbClr val="FF0000"/>
              </a:solidFill>
              <a:latin typeface="Bookman Old Style"/>
              <a:ea typeface="Bookman Old Style"/>
              <a:cs typeface="Bookman Old Style"/>
              <a:sym typeface="Bookman Old Style"/>
            </a:endParaRPr>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200" b="1" dirty="0">
                <a:solidFill>
                  <a:schemeClr val="bg1"/>
                </a:solidFill>
                <a:effectLst/>
                <a:latin typeface="Calibri" panose="020F0502020204030204" pitchFamily="34" charset="0"/>
                <a:ea typeface="MS Mincho" panose="02020609040205080304" pitchFamily="49" charset="-128"/>
                <a:cs typeface="Mangal" panose="02040503050203030202" pitchFamily="18" charset="0"/>
              </a:rPr>
              <a:t>Kanan Jethwani   1RV24CS118 </a:t>
            </a:r>
          </a:p>
          <a:p>
            <a:pPr marL="0" marR="0" lvl="0" indent="0" algn="just" rtl="0">
              <a:spcBef>
                <a:spcPts val="0"/>
              </a:spcBef>
              <a:spcAft>
                <a:spcPts val="0"/>
              </a:spcAft>
              <a:buNone/>
            </a:pPr>
            <a:r>
              <a:rPr lang="en-US" sz="1200" b="1" dirty="0">
                <a:solidFill>
                  <a:schemeClr val="bg1"/>
                </a:solidFill>
                <a:latin typeface="Calibri" panose="020F0502020204030204" pitchFamily="34" charset="0"/>
                <a:ea typeface="MS Mincho" panose="02020609040205080304" pitchFamily="49" charset="-128"/>
                <a:cs typeface="Mangal" panose="02040503050203030202" pitchFamily="18" charset="0"/>
              </a:rPr>
              <a:t>Ibrahim Zahi Shahidi   1RV24CS10</a:t>
            </a:r>
            <a:endParaRPr lang="en-US" sz="1200" b="1" dirty="0">
              <a:solidFill>
                <a:schemeClr val="bg1"/>
              </a:solidFill>
              <a:effectLst/>
              <a:latin typeface="Calibri" panose="020F0502020204030204" pitchFamily="34" charset="0"/>
              <a:ea typeface="MS Mincho" panose="02020609040205080304" pitchFamily="49" charset="-128"/>
              <a:cs typeface="Mangal" panose="02040503050203030202"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p>
          <a:p>
            <a:pPr marL="228600" lvl="0" indent="-228600" algn="l" rtl="0">
              <a:lnSpc>
                <a:spcPct val="90000"/>
              </a:lnSpc>
              <a:spcBef>
                <a:spcPts val="1000"/>
              </a:spcBef>
              <a:spcAft>
                <a:spcPts val="0"/>
              </a:spcAft>
              <a:buClr>
                <a:srgbClr val="002060"/>
              </a:buClr>
              <a:buSzPts val="2800"/>
              <a:buChar char="•"/>
            </a:pPr>
            <a:r>
              <a:rPr lang="en-US" dirty="0">
                <a:solidFill>
                  <a:srgbClr val="FF0000"/>
                </a:solidFill>
              </a:rPr>
              <a:t>Tools and Techniques Used</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p>
          <a:p>
            <a:pPr marL="228600" lvl="0" indent="-228600" algn="l" rtl="0">
              <a:lnSpc>
                <a:spcPct val="90000"/>
              </a:lnSpc>
              <a:spcBef>
                <a:spcPts val="1000"/>
              </a:spcBef>
              <a:spcAft>
                <a:spcPts val="0"/>
              </a:spcAft>
              <a:buClr>
                <a:srgbClr val="002060"/>
              </a:buClr>
              <a:buSzPts val="2800"/>
              <a:buChar char="•"/>
            </a:pPr>
            <a:r>
              <a:rPr lang="en-US" dirty="0">
                <a:solidFill>
                  <a:srgbClr val="FF0000"/>
                </a:solidFill>
              </a:rPr>
              <a:t>References</a:t>
            </a:r>
            <a:endParaRPr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2" y="1611087"/>
            <a:ext cx="11842377" cy="491868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2060"/>
              </a:buClr>
              <a:buSzPts val="2800"/>
              <a:buChar char="•"/>
            </a:pPr>
            <a:r>
              <a:rPr lang="en-IN" sz="2400" b="1" dirty="0"/>
              <a:t>Overview of the topic: </a:t>
            </a:r>
          </a:p>
          <a:p>
            <a:pPr lvl="1">
              <a:buFont typeface="Arial" panose="020B0604020202020204" pitchFamily="34" charset="0"/>
              <a:buChar char="•"/>
            </a:pPr>
            <a:r>
              <a:rPr lang="en-US" sz="1700" dirty="0"/>
              <a:t>Predictive Proactivity: Replaces reactive CPU throttling with ML that forecasts temperature spikes, allowing gentle pre-emptive adjustments.</a:t>
            </a:r>
          </a:p>
          <a:p>
            <a:pPr lvl="1">
              <a:buFont typeface="Arial" panose="020B0604020202020204" pitchFamily="34" charset="0"/>
              <a:buChar char="•"/>
            </a:pPr>
            <a:r>
              <a:rPr lang="en-US" sz="1700" dirty="0"/>
              <a:t>Real-Time ML Forecasting: Uses a lightweight model with live sensor data (load, temp, etc.) to predict CPU temperature 3-5 seconds ahead.</a:t>
            </a:r>
          </a:p>
          <a:p>
            <a:pPr lvl="1">
              <a:buFont typeface="Arial" panose="020B0604020202020204" pitchFamily="34" charset="0"/>
              <a:buChar char="•"/>
            </a:pPr>
            <a:r>
              <a:rPr lang="en-US" sz="1700" dirty="0"/>
              <a:t>Triple-Benefit Outcome: Simultaneously achieves smoother performance (no lag), lower device heat, and longer battery life through efficient power management.</a:t>
            </a:r>
          </a:p>
          <a:p>
            <a:pPr marL="533400" lvl="1" indent="0">
              <a:buNone/>
            </a:pPr>
            <a:endParaRPr lang="en-US" b="1" dirty="0"/>
          </a:p>
          <a:p>
            <a:pPr marL="228600" lvl="0" indent="-228600" algn="just" rtl="0">
              <a:lnSpc>
                <a:spcPct val="90000"/>
              </a:lnSpc>
              <a:spcBef>
                <a:spcPts val="0"/>
              </a:spcBef>
              <a:spcAft>
                <a:spcPts val="0"/>
              </a:spcAft>
              <a:buClr>
                <a:srgbClr val="002060"/>
              </a:buClr>
              <a:buSzPts val="2800"/>
              <a:buChar char="•"/>
            </a:pPr>
            <a:r>
              <a:rPr lang="en-IN" sz="2400" b="1" dirty="0"/>
              <a:t>Importance of the topic:</a:t>
            </a:r>
            <a:r>
              <a:rPr lang="en-IN" dirty="0"/>
              <a:t> </a:t>
            </a:r>
          </a:p>
          <a:p>
            <a:pPr marL="742950" lvl="1" indent="-285750" eaLnBrk="0" fontAlgn="base" hangingPunct="0">
              <a:lnSpc>
                <a:spcPct val="100000"/>
              </a:lnSpc>
              <a:spcBef>
                <a:spcPct val="0"/>
              </a:spcBef>
              <a:spcAft>
                <a:spcPct val="0"/>
              </a:spcAft>
              <a:buClrTx/>
              <a:buSzTx/>
            </a:pPr>
            <a:r>
              <a:rPr lang="en-US" altLang="en-US" sz="1700" dirty="0">
                <a:solidFill>
                  <a:schemeClr val="tx1"/>
                </a:solidFill>
                <a:latin typeface="Bookman Old Style" panose="02050604050505020204" pitchFamily="18" charset="0"/>
              </a:rPr>
              <a:t>Enhances user experience by eliminating performance lag and stutters.</a:t>
            </a:r>
          </a:p>
          <a:p>
            <a:pPr marL="742950" lvl="1" indent="-285750" eaLnBrk="0" fontAlgn="base" hangingPunct="0">
              <a:lnSpc>
                <a:spcPct val="100000"/>
              </a:lnSpc>
              <a:spcBef>
                <a:spcPct val="0"/>
              </a:spcBef>
              <a:spcAft>
                <a:spcPct val="0"/>
              </a:spcAft>
              <a:buClrTx/>
              <a:buSzTx/>
            </a:pPr>
            <a:r>
              <a:rPr lang="en-US" altLang="en-US" sz="1700" dirty="0">
                <a:solidFill>
                  <a:schemeClr val="tx1"/>
                </a:solidFill>
                <a:latin typeface="Bookman Old Style" panose="02050604050505020204" pitchFamily="18" charset="0"/>
              </a:rPr>
              <a:t>Improves device longevity and battery life through efficient thermal management.</a:t>
            </a:r>
          </a:p>
          <a:p>
            <a:pPr marL="742950" lvl="1" indent="-285750" eaLnBrk="0" fontAlgn="base" hangingPunct="0">
              <a:lnSpc>
                <a:spcPct val="100000"/>
              </a:lnSpc>
              <a:spcBef>
                <a:spcPct val="0"/>
              </a:spcBef>
              <a:spcAft>
                <a:spcPct val="0"/>
              </a:spcAft>
              <a:buClrTx/>
              <a:buSzTx/>
            </a:pPr>
            <a:r>
              <a:rPr lang="en-US" altLang="en-US" sz="1700" dirty="0">
                <a:solidFill>
                  <a:schemeClr val="tx1"/>
                </a:solidFill>
                <a:latin typeface="Bookman Old Style" panose="02050604050505020204" pitchFamily="18" charset="0"/>
              </a:rPr>
              <a:t>Enables sustainable computing by reducing energy waste and heat generation.</a:t>
            </a:r>
            <a:endParaRPr lang="en-IN" dirty="0"/>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3</a:t>
            </a:fld>
            <a:endParaRPr/>
          </a:p>
        </p:txBody>
      </p:sp>
      <p:sp>
        <p:nvSpPr>
          <p:cNvPr id="153" name="Google Shape;153;p5"/>
          <p:cNvSpPr txBox="1"/>
          <p:nvPr/>
        </p:nvSpPr>
        <p:spPr>
          <a:xfrm>
            <a:off x="1386895" y="157245"/>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
        <p:nvSpPr>
          <p:cNvPr id="3" name="Rectangle 2">
            <a:extLst>
              <a:ext uri="{FF2B5EF4-FFF2-40B4-BE49-F238E27FC236}">
                <a16:creationId xmlns:a16="http://schemas.microsoft.com/office/drawing/2014/main" id="{15EFC3E1-1BEE-60C3-A972-9F9C73868515}"/>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C3985DE7-D9DB-245F-14D7-F8459D9B2FA4}"/>
            </a:ext>
          </a:extLst>
        </p:cNvPr>
        <p:cNvGrpSpPr/>
        <p:nvPr/>
      </p:nvGrpSpPr>
      <p:grpSpPr>
        <a:xfrm>
          <a:off x="0" y="0"/>
          <a:ext cx="0" cy="0"/>
          <a:chOff x="0" y="0"/>
          <a:chExt cx="0" cy="0"/>
        </a:xfrm>
      </p:grpSpPr>
      <p:sp>
        <p:nvSpPr>
          <p:cNvPr id="158" name="Google Shape;158;p6">
            <a:extLst>
              <a:ext uri="{FF2B5EF4-FFF2-40B4-BE49-F238E27FC236}">
                <a16:creationId xmlns:a16="http://schemas.microsoft.com/office/drawing/2014/main" id="{7A251207-8769-D1CB-44A8-7D089AAB9B04}"/>
              </a:ext>
            </a:extLst>
          </p:cNvPr>
          <p:cNvSpPr txBox="1">
            <a:spLocks noGrp="1"/>
          </p:cNvSpPr>
          <p:nvPr>
            <p:ph type="body" idx="1"/>
          </p:nvPr>
        </p:nvSpPr>
        <p:spPr>
          <a:xfrm>
            <a:off x="174812" y="1125008"/>
            <a:ext cx="11842377" cy="5222197"/>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002060"/>
              </a:buClr>
              <a:buSzPts val="2800"/>
              <a:buNone/>
            </a:pPr>
            <a:endParaRPr lang="en-IN" sz="2200" dirty="0"/>
          </a:p>
        </p:txBody>
      </p:sp>
      <p:sp>
        <p:nvSpPr>
          <p:cNvPr id="160" name="Google Shape;160;p6">
            <a:extLst>
              <a:ext uri="{FF2B5EF4-FFF2-40B4-BE49-F238E27FC236}">
                <a16:creationId xmlns:a16="http://schemas.microsoft.com/office/drawing/2014/main" id="{F06487BE-6EAD-2A7D-0437-3B5059E08C16}"/>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61" name="Google Shape;161;p6">
            <a:extLst>
              <a:ext uri="{FF2B5EF4-FFF2-40B4-BE49-F238E27FC236}">
                <a16:creationId xmlns:a16="http://schemas.microsoft.com/office/drawing/2014/main" id="{CB5F13C9-BB0B-D6B6-206F-5BBF2B639EAC}"/>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graphicFrame>
        <p:nvGraphicFramePr>
          <p:cNvPr id="5" name="Table 5">
            <a:extLst>
              <a:ext uri="{FF2B5EF4-FFF2-40B4-BE49-F238E27FC236}">
                <a16:creationId xmlns:a16="http://schemas.microsoft.com/office/drawing/2014/main" id="{AEB64F88-4E99-4A67-6104-C20D1EF5DBE1}"/>
              </a:ext>
            </a:extLst>
          </p:cNvPr>
          <p:cNvGraphicFramePr>
            <a:graphicFrameLocks noGrp="1"/>
          </p:cNvGraphicFramePr>
          <p:nvPr>
            <p:extLst>
              <p:ext uri="{D42A27DB-BD31-4B8C-83A1-F6EECF244321}">
                <p14:modId xmlns:p14="http://schemas.microsoft.com/office/powerpoint/2010/main" val="3557755886"/>
              </p:ext>
            </p:extLst>
          </p:nvPr>
        </p:nvGraphicFramePr>
        <p:xfrm>
          <a:off x="174811" y="1125008"/>
          <a:ext cx="11842377" cy="5222199"/>
        </p:xfrm>
        <a:graphic>
          <a:graphicData uri="http://schemas.openxmlformats.org/drawingml/2006/table">
            <a:tbl>
              <a:tblPr firstRow="1" bandRow="1">
                <a:tableStyleId>{5C22544A-7EE6-4342-B048-85BDC9FD1C3A}</a:tableStyleId>
              </a:tblPr>
              <a:tblGrid>
                <a:gridCol w="756891">
                  <a:extLst>
                    <a:ext uri="{9D8B030D-6E8A-4147-A177-3AD203B41FA5}">
                      <a16:colId xmlns:a16="http://schemas.microsoft.com/office/drawing/2014/main" val="2079286574"/>
                    </a:ext>
                  </a:extLst>
                </a:gridCol>
                <a:gridCol w="2125271">
                  <a:extLst>
                    <a:ext uri="{9D8B030D-6E8A-4147-A177-3AD203B41FA5}">
                      <a16:colId xmlns:a16="http://schemas.microsoft.com/office/drawing/2014/main" val="2794299807"/>
                    </a:ext>
                  </a:extLst>
                </a:gridCol>
                <a:gridCol w="2125271">
                  <a:extLst>
                    <a:ext uri="{9D8B030D-6E8A-4147-A177-3AD203B41FA5}">
                      <a16:colId xmlns:a16="http://schemas.microsoft.com/office/drawing/2014/main" val="1021364544"/>
                    </a:ext>
                  </a:extLst>
                </a:gridCol>
                <a:gridCol w="3726926">
                  <a:extLst>
                    <a:ext uri="{9D8B030D-6E8A-4147-A177-3AD203B41FA5}">
                      <a16:colId xmlns:a16="http://schemas.microsoft.com/office/drawing/2014/main" val="384250565"/>
                    </a:ext>
                  </a:extLst>
                </a:gridCol>
                <a:gridCol w="3108018">
                  <a:extLst>
                    <a:ext uri="{9D8B030D-6E8A-4147-A177-3AD203B41FA5}">
                      <a16:colId xmlns:a16="http://schemas.microsoft.com/office/drawing/2014/main" val="703431016"/>
                    </a:ext>
                  </a:extLst>
                </a:gridCol>
              </a:tblGrid>
              <a:tr h="549705">
                <a:tc>
                  <a:txBody>
                    <a:bodyPr/>
                    <a:lstStyle/>
                    <a:p>
                      <a:pPr algn="ctr"/>
                      <a:r>
                        <a:rPr lang="en-US" sz="1500" dirty="0">
                          <a:latin typeface="Bookman Old Style" panose="02050604050505020204" pitchFamily="18" charset="0"/>
                        </a:rPr>
                        <a:t>S. No.</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Author(s)</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Year of Publication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Contribution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Objective</a:t>
                      </a:r>
                      <a:endParaRPr lang="en-IN" sz="1500" dirty="0">
                        <a:latin typeface="Bookman Old Style" panose="02050604050505020204" pitchFamily="18" charset="0"/>
                      </a:endParaRPr>
                    </a:p>
                  </a:txBody>
                  <a:tcPr/>
                </a:tc>
                <a:extLst>
                  <a:ext uri="{0D108BD9-81ED-4DB2-BD59-A6C34878D82A}">
                    <a16:rowId xmlns:a16="http://schemas.microsoft.com/office/drawing/2014/main" val="2531658464"/>
                  </a:ext>
                </a:extLst>
              </a:tr>
              <a:tr h="778749">
                <a:tc>
                  <a:txBody>
                    <a:bodyPr/>
                    <a:lstStyle/>
                    <a:p>
                      <a:r>
                        <a:rPr lang="en-US" sz="1500" dirty="0">
                          <a:latin typeface="Bookman Old Style" panose="02050604050505020204" pitchFamily="18" charset="0"/>
                        </a:rPr>
                        <a:t>1</a:t>
                      </a:r>
                      <a:endParaRPr lang="en-IN" sz="1500" dirty="0">
                        <a:latin typeface="Bookman Old Style" panose="02050604050505020204" pitchFamily="18" charset="0"/>
                      </a:endParaRPr>
                    </a:p>
                  </a:txBody>
                  <a:tcPr/>
                </a:tc>
                <a:tc>
                  <a:txBody>
                    <a:bodyPr/>
                    <a:lstStyle/>
                    <a:p>
                      <a:r>
                        <a:rPr lang="en-IN" sz="1500" dirty="0" err="1">
                          <a:latin typeface="Bookman Old Style" panose="02050604050505020204" pitchFamily="18" charset="0"/>
                        </a:rPr>
                        <a:t>Skadron</a:t>
                      </a:r>
                      <a:r>
                        <a:rPr lang="en-IN" sz="1500" dirty="0">
                          <a:latin typeface="Bookman Old Style" panose="02050604050505020204" pitchFamily="18" charset="0"/>
                        </a:rPr>
                        <a:t> et al.</a:t>
                      </a:r>
                    </a:p>
                  </a:txBody>
                  <a:tcPr/>
                </a:tc>
                <a:tc>
                  <a:txBody>
                    <a:bodyPr/>
                    <a:lstStyle/>
                    <a:p>
                      <a:r>
                        <a:rPr lang="en-US" sz="1500" dirty="0">
                          <a:latin typeface="Bookman Old Style" panose="02050604050505020204" pitchFamily="18" charset="0"/>
                        </a:rPr>
                        <a:t>2003</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Introduced temperature-aware microarchitecture and exposed the limits of threshold-based throttling.</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Build foundational understanding of CPU thermal behavior.</a:t>
                      </a:r>
                      <a:endParaRPr lang="en-IN" sz="1500" dirty="0">
                        <a:latin typeface="Bookman Old Style" panose="02050604050505020204" pitchFamily="18" charset="0"/>
                      </a:endParaRPr>
                    </a:p>
                  </a:txBody>
                  <a:tcPr/>
                </a:tc>
                <a:extLst>
                  <a:ext uri="{0D108BD9-81ED-4DB2-BD59-A6C34878D82A}">
                    <a16:rowId xmlns:a16="http://schemas.microsoft.com/office/drawing/2014/main" val="1205226713"/>
                  </a:ext>
                </a:extLst>
              </a:tr>
              <a:tr h="778749">
                <a:tc>
                  <a:txBody>
                    <a:bodyPr/>
                    <a:lstStyle/>
                    <a:p>
                      <a:r>
                        <a:rPr lang="en-US" sz="1500" dirty="0">
                          <a:latin typeface="Bookman Old Style" panose="02050604050505020204" pitchFamily="18" charset="0"/>
                        </a:rPr>
                        <a:t>2</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Donald &amp; Martonosi</a:t>
                      </a:r>
                    </a:p>
                  </a:txBody>
                  <a:tcPr/>
                </a:tc>
                <a:tc>
                  <a:txBody>
                    <a:bodyPr/>
                    <a:lstStyle/>
                    <a:p>
                      <a:r>
                        <a:rPr lang="en-US" sz="1500" dirty="0">
                          <a:latin typeface="Bookman Old Style" panose="02050604050505020204" pitchFamily="18" charset="0"/>
                        </a:rPr>
                        <a:t>2006</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Showed that reactive thermal management reduces performance and efficiency.</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Identify why proactive thermal solutions outperform reactive throttling.</a:t>
                      </a:r>
                      <a:endParaRPr lang="en-IN" sz="1500" dirty="0">
                        <a:latin typeface="Bookman Old Style" panose="02050604050505020204" pitchFamily="18" charset="0"/>
                      </a:endParaRPr>
                    </a:p>
                  </a:txBody>
                  <a:tcPr/>
                </a:tc>
                <a:extLst>
                  <a:ext uri="{0D108BD9-81ED-4DB2-BD59-A6C34878D82A}">
                    <a16:rowId xmlns:a16="http://schemas.microsoft.com/office/drawing/2014/main" val="3868896603"/>
                  </a:ext>
                </a:extLst>
              </a:tr>
              <a:tr h="778749">
                <a:tc>
                  <a:txBody>
                    <a:bodyPr/>
                    <a:lstStyle/>
                    <a:p>
                      <a:r>
                        <a:rPr lang="en-US" sz="1500" dirty="0">
                          <a:latin typeface="Bookman Old Style" panose="02050604050505020204" pitchFamily="18" charset="0"/>
                        </a:rPr>
                        <a:t>3</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Zhang, Huang &amp; Stan </a:t>
                      </a:r>
                    </a:p>
                  </a:txBody>
                  <a:tcPr/>
                </a:tc>
                <a:tc>
                  <a:txBody>
                    <a:bodyPr/>
                    <a:lstStyle/>
                    <a:p>
                      <a:r>
                        <a:rPr lang="en-US" sz="1500" dirty="0">
                          <a:latin typeface="Bookman Old Style" panose="02050604050505020204" pitchFamily="18" charset="0"/>
                        </a:rPr>
                        <a:t>2015</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Developed predictive thermal management enabling smoother CPU scaling.</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Show that predictive throttling improves CPU smoothness.</a:t>
                      </a:r>
                      <a:endParaRPr lang="en-IN" sz="1500" dirty="0">
                        <a:latin typeface="Bookman Old Style" panose="02050604050505020204" pitchFamily="18" charset="0"/>
                      </a:endParaRPr>
                    </a:p>
                  </a:txBody>
                  <a:tcPr/>
                </a:tc>
                <a:extLst>
                  <a:ext uri="{0D108BD9-81ED-4DB2-BD59-A6C34878D82A}">
                    <a16:rowId xmlns:a16="http://schemas.microsoft.com/office/drawing/2014/main" val="1953858397"/>
                  </a:ext>
                </a:extLst>
              </a:tr>
              <a:tr h="778749">
                <a:tc>
                  <a:txBody>
                    <a:bodyPr/>
                    <a:lstStyle/>
                    <a:p>
                      <a:r>
                        <a:rPr lang="en-US" sz="1500" dirty="0">
                          <a:latin typeface="Bookman Old Style" panose="02050604050505020204" pitchFamily="18" charset="0"/>
                        </a:rPr>
                        <a:t>4</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Mittal</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2016</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Reviewed modern energy-efficient embedded computing techniques including DVFS.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Identify DVFS and throttling as key tools in power and thermal management.</a:t>
                      </a:r>
                      <a:endParaRPr lang="en-IN" sz="1500" dirty="0">
                        <a:latin typeface="Bookman Old Style" panose="02050604050505020204" pitchFamily="18" charset="0"/>
                      </a:endParaRPr>
                    </a:p>
                  </a:txBody>
                  <a:tcPr/>
                </a:tc>
                <a:extLst>
                  <a:ext uri="{0D108BD9-81ED-4DB2-BD59-A6C34878D82A}">
                    <a16:rowId xmlns:a16="http://schemas.microsoft.com/office/drawing/2014/main" val="1502815497"/>
                  </a:ext>
                </a:extLst>
              </a:tr>
              <a:tr h="778749">
                <a:tc>
                  <a:txBody>
                    <a:bodyPr/>
                    <a:lstStyle/>
                    <a:p>
                      <a:r>
                        <a:rPr lang="en-US" sz="1500" dirty="0">
                          <a:latin typeface="Bookman Old Style" panose="02050604050505020204" pitchFamily="18" charset="0"/>
                        </a:rPr>
                        <a:t>5</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Shah, Patel &amp; Mehta</a:t>
                      </a:r>
                    </a:p>
                  </a:txBody>
                  <a:tcPr/>
                </a:tc>
                <a:tc>
                  <a:txBody>
                    <a:bodyPr/>
                    <a:lstStyle/>
                    <a:p>
                      <a:r>
                        <a:rPr lang="en-US" sz="1500" dirty="0">
                          <a:latin typeface="Bookman Old Style" panose="02050604050505020204" pitchFamily="18" charset="0"/>
                        </a:rPr>
                        <a:t>2017</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Analyzed workload-based heat generation patterns in smartphone processors.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Understand workload-driven thermal trends to support ML prediction models.</a:t>
                      </a:r>
                      <a:endParaRPr lang="en-IN" sz="1500" dirty="0">
                        <a:latin typeface="Bookman Old Style" panose="02050604050505020204" pitchFamily="18" charset="0"/>
                      </a:endParaRPr>
                    </a:p>
                  </a:txBody>
                  <a:tcPr/>
                </a:tc>
                <a:extLst>
                  <a:ext uri="{0D108BD9-81ED-4DB2-BD59-A6C34878D82A}">
                    <a16:rowId xmlns:a16="http://schemas.microsoft.com/office/drawing/2014/main" val="1458724563"/>
                  </a:ext>
                </a:extLst>
              </a:tr>
              <a:tr h="778749">
                <a:tc>
                  <a:txBody>
                    <a:bodyPr/>
                    <a:lstStyle/>
                    <a:p>
                      <a:r>
                        <a:rPr lang="en-US" sz="1500" dirty="0">
                          <a:latin typeface="Bookman Old Style" panose="02050604050505020204" pitchFamily="18" charset="0"/>
                        </a:rPr>
                        <a:t>6</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Liao, Kim &amp; Venkataramani</a:t>
                      </a:r>
                    </a:p>
                  </a:txBody>
                  <a:tcPr/>
                </a:tc>
                <a:tc>
                  <a:txBody>
                    <a:bodyPr/>
                    <a:lstStyle/>
                    <a:p>
                      <a:r>
                        <a:rPr lang="en-US" sz="1500" dirty="0">
                          <a:latin typeface="Bookman Old Style" panose="02050604050505020204" pitchFamily="18" charset="0"/>
                        </a:rPr>
                        <a:t>2018</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Demonstrated that delayed thermal throttling causes performance stutters in mobile devices.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Emphasize the need for early prediction to avoid performance drops.</a:t>
                      </a:r>
                      <a:endParaRPr lang="en-IN" sz="1500" dirty="0">
                        <a:latin typeface="Bookman Old Style" panose="02050604050505020204" pitchFamily="18" charset="0"/>
                      </a:endParaRPr>
                    </a:p>
                  </a:txBody>
                  <a:tcPr/>
                </a:tc>
                <a:extLst>
                  <a:ext uri="{0D108BD9-81ED-4DB2-BD59-A6C34878D82A}">
                    <a16:rowId xmlns:a16="http://schemas.microsoft.com/office/drawing/2014/main" val="2966189701"/>
                  </a:ext>
                </a:extLst>
              </a:tr>
            </a:tbl>
          </a:graphicData>
        </a:graphic>
      </p:graphicFrame>
    </p:spTree>
    <p:extLst>
      <p:ext uri="{BB962C8B-B14F-4D97-AF65-F5344CB8AC3E}">
        <p14:creationId xmlns:p14="http://schemas.microsoft.com/office/powerpoint/2010/main" val="3097561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E81B6CC6-4375-BADC-175B-EB58C2D4EA75}"/>
            </a:ext>
          </a:extLst>
        </p:cNvPr>
        <p:cNvGrpSpPr/>
        <p:nvPr/>
      </p:nvGrpSpPr>
      <p:grpSpPr>
        <a:xfrm>
          <a:off x="0" y="0"/>
          <a:ext cx="0" cy="0"/>
          <a:chOff x="0" y="0"/>
          <a:chExt cx="0" cy="0"/>
        </a:xfrm>
      </p:grpSpPr>
      <p:sp>
        <p:nvSpPr>
          <p:cNvPr id="158" name="Google Shape;158;p6">
            <a:extLst>
              <a:ext uri="{FF2B5EF4-FFF2-40B4-BE49-F238E27FC236}">
                <a16:creationId xmlns:a16="http://schemas.microsoft.com/office/drawing/2014/main" id="{B67D8BEF-6475-B81A-2C73-80C4D9D27DDE}"/>
              </a:ext>
            </a:extLst>
          </p:cNvPr>
          <p:cNvSpPr txBox="1">
            <a:spLocks noGrp="1"/>
          </p:cNvSpPr>
          <p:nvPr>
            <p:ph type="body" idx="1"/>
          </p:nvPr>
        </p:nvSpPr>
        <p:spPr>
          <a:xfrm>
            <a:off x="174812" y="1125008"/>
            <a:ext cx="11842377" cy="5222197"/>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002060"/>
              </a:buClr>
              <a:buSzPts val="2800"/>
              <a:buNone/>
            </a:pPr>
            <a:endParaRPr lang="en-IN" sz="2200" dirty="0"/>
          </a:p>
        </p:txBody>
      </p:sp>
      <p:sp>
        <p:nvSpPr>
          <p:cNvPr id="160" name="Google Shape;160;p6">
            <a:extLst>
              <a:ext uri="{FF2B5EF4-FFF2-40B4-BE49-F238E27FC236}">
                <a16:creationId xmlns:a16="http://schemas.microsoft.com/office/drawing/2014/main" id="{019363CD-32DC-242A-6D4C-56F33E51215B}"/>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a:extLst>
              <a:ext uri="{FF2B5EF4-FFF2-40B4-BE49-F238E27FC236}">
                <a16:creationId xmlns:a16="http://schemas.microsoft.com/office/drawing/2014/main" id="{3E1803E7-EBDD-4D3D-5320-A7EF14864466}"/>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graphicFrame>
        <p:nvGraphicFramePr>
          <p:cNvPr id="5" name="Table 5">
            <a:extLst>
              <a:ext uri="{FF2B5EF4-FFF2-40B4-BE49-F238E27FC236}">
                <a16:creationId xmlns:a16="http://schemas.microsoft.com/office/drawing/2014/main" id="{D0D95145-C014-0E62-DE36-8482CED79F29}"/>
              </a:ext>
            </a:extLst>
          </p:cNvPr>
          <p:cNvGraphicFramePr>
            <a:graphicFrameLocks noGrp="1"/>
          </p:cNvGraphicFramePr>
          <p:nvPr>
            <p:extLst>
              <p:ext uri="{D42A27DB-BD31-4B8C-83A1-F6EECF244321}">
                <p14:modId xmlns:p14="http://schemas.microsoft.com/office/powerpoint/2010/main" val="2235402511"/>
              </p:ext>
            </p:extLst>
          </p:nvPr>
        </p:nvGraphicFramePr>
        <p:xfrm>
          <a:off x="174811" y="1125008"/>
          <a:ext cx="11842377" cy="5222199"/>
        </p:xfrm>
        <a:graphic>
          <a:graphicData uri="http://schemas.openxmlformats.org/drawingml/2006/table">
            <a:tbl>
              <a:tblPr firstRow="1" bandRow="1">
                <a:tableStyleId>{5C22544A-7EE6-4342-B048-85BDC9FD1C3A}</a:tableStyleId>
              </a:tblPr>
              <a:tblGrid>
                <a:gridCol w="756891">
                  <a:extLst>
                    <a:ext uri="{9D8B030D-6E8A-4147-A177-3AD203B41FA5}">
                      <a16:colId xmlns:a16="http://schemas.microsoft.com/office/drawing/2014/main" val="2079286574"/>
                    </a:ext>
                  </a:extLst>
                </a:gridCol>
                <a:gridCol w="2125271">
                  <a:extLst>
                    <a:ext uri="{9D8B030D-6E8A-4147-A177-3AD203B41FA5}">
                      <a16:colId xmlns:a16="http://schemas.microsoft.com/office/drawing/2014/main" val="2794299807"/>
                    </a:ext>
                  </a:extLst>
                </a:gridCol>
                <a:gridCol w="2125271">
                  <a:extLst>
                    <a:ext uri="{9D8B030D-6E8A-4147-A177-3AD203B41FA5}">
                      <a16:colId xmlns:a16="http://schemas.microsoft.com/office/drawing/2014/main" val="1021364544"/>
                    </a:ext>
                  </a:extLst>
                </a:gridCol>
                <a:gridCol w="3726926">
                  <a:extLst>
                    <a:ext uri="{9D8B030D-6E8A-4147-A177-3AD203B41FA5}">
                      <a16:colId xmlns:a16="http://schemas.microsoft.com/office/drawing/2014/main" val="384250565"/>
                    </a:ext>
                  </a:extLst>
                </a:gridCol>
                <a:gridCol w="3108018">
                  <a:extLst>
                    <a:ext uri="{9D8B030D-6E8A-4147-A177-3AD203B41FA5}">
                      <a16:colId xmlns:a16="http://schemas.microsoft.com/office/drawing/2014/main" val="703431016"/>
                    </a:ext>
                  </a:extLst>
                </a:gridCol>
              </a:tblGrid>
              <a:tr h="549705">
                <a:tc>
                  <a:txBody>
                    <a:bodyPr/>
                    <a:lstStyle/>
                    <a:p>
                      <a:pPr algn="ctr"/>
                      <a:r>
                        <a:rPr lang="en-US" sz="1500" dirty="0">
                          <a:latin typeface="Bookman Old Style" panose="02050604050505020204" pitchFamily="18" charset="0"/>
                        </a:rPr>
                        <a:t>S. No.</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Author(s)</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Year of Publication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Contribution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Objective</a:t>
                      </a:r>
                      <a:endParaRPr lang="en-IN" sz="1500" dirty="0">
                        <a:latin typeface="Bookman Old Style" panose="02050604050505020204" pitchFamily="18" charset="0"/>
                      </a:endParaRPr>
                    </a:p>
                  </a:txBody>
                  <a:tcPr/>
                </a:tc>
                <a:extLst>
                  <a:ext uri="{0D108BD9-81ED-4DB2-BD59-A6C34878D82A}">
                    <a16:rowId xmlns:a16="http://schemas.microsoft.com/office/drawing/2014/main" val="2531658464"/>
                  </a:ext>
                </a:extLst>
              </a:tr>
              <a:tr h="778749">
                <a:tc>
                  <a:txBody>
                    <a:bodyPr/>
                    <a:lstStyle/>
                    <a:p>
                      <a:r>
                        <a:rPr lang="en-US" sz="1500" dirty="0">
                          <a:latin typeface="Bookman Old Style" panose="02050604050505020204" pitchFamily="18" charset="0"/>
                        </a:rPr>
                        <a:t>7</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Hoffmann &amp; Marinescu</a:t>
                      </a:r>
                    </a:p>
                  </a:txBody>
                  <a:tcPr/>
                </a:tc>
                <a:tc>
                  <a:txBody>
                    <a:bodyPr/>
                    <a:lstStyle/>
                    <a:p>
                      <a:r>
                        <a:rPr lang="en-US" sz="1500" dirty="0">
                          <a:latin typeface="Bookman Old Style" panose="02050604050505020204" pitchFamily="18" charset="0"/>
                        </a:rPr>
                        <a:t>2018</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Showed that temperature forecasting improves CPU frequency and energy optimization.</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Strengthen the argument for prediction-based frequency scaling.</a:t>
                      </a:r>
                      <a:endParaRPr lang="en-IN" sz="1500" dirty="0">
                        <a:latin typeface="Bookman Old Style" panose="02050604050505020204" pitchFamily="18" charset="0"/>
                      </a:endParaRPr>
                    </a:p>
                  </a:txBody>
                  <a:tcPr/>
                </a:tc>
                <a:extLst>
                  <a:ext uri="{0D108BD9-81ED-4DB2-BD59-A6C34878D82A}">
                    <a16:rowId xmlns:a16="http://schemas.microsoft.com/office/drawing/2014/main" val="1205226713"/>
                  </a:ext>
                </a:extLst>
              </a:tr>
              <a:tr h="778749">
                <a:tc>
                  <a:txBody>
                    <a:bodyPr/>
                    <a:lstStyle/>
                    <a:p>
                      <a:r>
                        <a:rPr lang="en-US" sz="1500" dirty="0">
                          <a:latin typeface="Bookman Old Style" panose="02050604050505020204" pitchFamily="18" charset="0"/>
                        </a:rPr>
                        <a:t>8</a:t>
                      </a:r>
                      <a:endParaRPr lang="en-IN" sz="1500" dirty="0">
                        <a:latin typeface="Bookman Old Style" panose="02050604050505020204" pitchFamily="18" charset="0"/>
                      </a:endParaRPr>
                    </a:p>
                  </a:txBody>
                  <a:tcPr/>
                </a:tc>
                <a:tc>
                  <a:txBody>
                    <a:bodyPr/>
                    <a:lstStyle/>
                    <a:p>
                      <a:r>
                        <a:rPr lang="en-IN" sz="1500" dirty="0" err="1">
                          <a:latin typeface="Bookman Old Style" panose="02050604050505020204" pitchFamily="18" charset="0"/>
                        </a:rPr>
                        <a:t>Gniady</a:t>
                      </a:r>
                      <a:r>
                        <a:rPr lang="en-IN" sz="1500" dirty="0">
                          <a:latin typeface="Bookman Old Style" panose="02050604050505020204" pitchFamily="18" charset="0"/>
                        </a:rPr>
                        <a:t>, Hu &amp; Zong</a:t>
                      </a:r>
                    </a:p>
                  </a:txBody>
                  <a:tcPr/>
                </a:tc>
                <a:tc>
                  <a:txBody>
                    <a:bodyPr/>
                    <a:lstStyle/>
                    <a:p>
                      <a:r>
                        <a:rPr lang="en-US" sz="1500" dirty="0">
                          <a:latin typeface="Bookman Old Style" panose="02050604050505020204" pitchFamily="18" charset="0"/>
                        </a:rPr>
                        <a:t>2019</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Applied ML for proactive power and thermal management to improve stability.</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Demonstrate ML’s potential for real-time device stability.</a:t>
                      </a:r>
                      <a:endParaRPr lang="en-IN" sz="1500" dirty="0">
                        <a:latin typeface="Bookman Old Style" panose="02050604050505020204" pitchFamily="18" charset="0"/>
                      </a:endParaRPr>
                    </a:p>
                  </a:txBody>
                  <a:tcPr/>
                </a:tc>
                <a:extLst>
                  <a:ext uri="{0D108BD9-81ED-4DB2-BD59-A6C34878D82A}">
                    <a16:rowId xmlns:a16="http://schemas.microsoft.com/office/drawing/2014/main" val="3868896603"/>
                  </a:ext>
                </a:extLst>
              </a:tr>
              <a:tr h="778749">
                <a:tc>
                  <a:txBody>
                    <a:bodyPr/>
                    <a:lstStyle/>
                    <a:p>
                      <a:r>
                        <a:rPr lang="en-US" sz="1500" dirty="0">
                          <a:latin typeface="Bookman Old Style" panose="02050604050505020204" pitchFamily="18" charset="0"/>
                        </a:rPr>
                        <a:t>9</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Yang, Lee &amp; Kim</a:t>
                      </a:r>
                    </a:p>
                  </a:txBody>
                  <a:tcPr/>
                </a:tc>
                <a:tc>
                  <a:txBody>
                    <a:bodyPr/>
                    <a:lstStyle/>
                    <a:p>
                      <a:r>
                        <a:rPr lang="en-US" sz="1500" dirty="0">
                          <a:latin typeface="Bookman Old Style" panose="02050604050505020204" pitchFamily="18" charset="0"/>
                        </a:rPr>
                        <a:t>2019</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Used regression-based DVFS to maintain stable temperatures with minimal performance loss.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Support the use of DVFS as a control strategy in thermal systems.</a:t>
                      </a:r>
                      <a:endParaRPr lang="en-IN" sz="1500" dirty="0">
                        <a:latin typeface="Bookman Old Style" panose="02050604050505020204" pitchFamily="18" charset="0"/>
                      </a:endParaRPr>
                    </a:p>
                  </a:txBody>
                  <a:tcPr/>
                </a:tc>
                <a:extLst>
                  <a:ext uri="{0D108BD9-81ED-4DB2-BD59-A6C34878D82A}">
                    <a16:rowId xmlns:a16="http://schemas.microsoft.com/office/drawing/2014/main" val="1953858397"/>
                  </a:ext>
                </a:extLst>
              </a:tr>
              <a:tr h="778749">
                <a:tc>
                  <a:txBody>
                    <a:bodyPr/>
                    <a:lstStyle/>
                    <a:p>
                      <a:r>
                        <a:rPr lang="en-US" sz="1500" dirty="0">
                          <a:latin typeface="Bookman Old Style" panose="02050604050505020204" pitchFamily="18" charset="0"/>
                        </a:rPr>
                        <a:t>10</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Magaña, Martín &amp; Andrade </a:t>
                      </a:r>
                    </a:p>
                  </a:txBody>
                  <a:tcPr/>
                </a:tc>
                <a:tc>
                  <a:txBody>
                    <a:bodyPr/>
                    <a:lstStyle/>
                    <a:p>
                      <a:r>
                        <a:rPr lang="en-US" sz="1500" dirty="0">
                          <a:latin typeface="Bookman Old Style" panose="02050604050505020204" pitchFamily="18" charset="0"/>
                        </a:rPr>
                        <a:t>2020</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Proved that ML models are effective for CPU temperature forecasting.</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Support the use of ML-based predictive modeling for thermal control.</a:t>
                      </a:r>
                      <a:endParaRPr lang="en-IN" sz="1500" dirty="0">
                        <a:latin typeface="Bookman Old Style" panose="02050604050505020204" pitchFamily="18" charset="0"/>
                      </a:endParaRPr>
                    </a:p>
                  </a:txBody>
                  <a:tcPr/>
                </a:tc>
                <a:extLst>
                  <a:ext uri="{0D108BD9-81ED-4DB2-BD59-A6C34878D82A}">
                    <a16:rowId xmlns:a16="http://schemas.microsoft.com/office/drawing/2014/main" val="1502815497"/>
                  </a:ext>
                </a:extLst>
              </a:tr>
              <a:tr h="778749">
                <a:tc>
                  <a:txBody>
                    <a:bodyPr/>
                    <a:lstStyle/>
                    <a:p>
                      <a:r>
                        <a:rPr lang="en-US" sz="1500" dirty="0">
                          <a:latin typeface="Bookman Old Style" panose="02050604050505020204" pitchFamily="18" charset="0"/>
                        </a:rPr>
                        <a:t>11</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Bai, Han &amp; Kim</a:t>
                      </a:r>
                    </a:p>
                  </a:txBody>
                  <a:tcPr/>
                </a:tc>
                <a:tc>
                  <a:txBody>
                    <a:bodyPr/>
                    <a:lstStyle/>
                    <a:p>
                      <a:r>
                        <a:rPr lang="en-US" sz="1500" dirty="0">
                          <a:latin typeface="Bookman Old Style" panose="02050604050505020204" pitchFamily="18" charset="0"/>
                        </a:rPr>
                        <a:t>2020</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Demonstrated that predictive power modeling outperforms reactive throttling.</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Justify shifting from reactive to predictive thermal control.</a:t>
                      </a:r>
                      <a:endParaRPr lang="en-IN" sz="1500" dirty="0">
                        <a:latin typeface="Bookman Old Style" panose="02050604050505020204" pitchFamily="18" charset="0"/>
                      </a:endParaRPr>
                    </a:p>
                  </a:txBody>
                  <a:tcPr/>
                </a:tc>
                <a:extLst>
                  <a:ext uri="{0D108BD9-81ED-4DB2-BD59-A6C34878D82A}">
                    <a16:rowId xmlns:a16="http://schemas.microsoft.com/office/drawing/2014/main" val="1458724563"/>
                  </a:ext>
                </a:extLst>
              </a:tr>
              <a:tr h="778749">
                <a:tc>
                  <a:txBody>
                    <a:bodyPr/>
                    <a:lstStyle/>
                    <a:p>
                      <a:r>
                        <a:rPr lang="en-US" sz="1500" dirty="0">
                          <a:latin typeface="Bookman Old Style" panose="02050604050505020204" pitchFamily="18" charset="0"/>
                        </a:rPr>
                        <a:t>12</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Wang, Liu &amp; Xu</a:t>
                      </a:r>
                    </a:p>
                  </a:txBody>
                  <a:tcPr/>
                </a:tc>
                <a:tc>
                  <a:txBody>
                    <a:bodyPr/>
                    <a:lstStyle/>
                    <a:p>
                      <a:r>
                        <a:rPr lang="en-US" sz="1500" dirty="0">
                          <a:latin typeface="Bookman Old Style" panose="02050604050505020204" pitchFamily="18" charset="0"/>
                        </a:rPr>
                        <a:t>2021</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Showed that predicting temperature 3–5 seconds in advance reduces overheating.</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Validate the ideal prediction window for proactive throttling.</a:t>
                      </a:r>
                      <a:endParaRPr lang="en-IN" sz="1500" dirty="0">
                        <a:latin typeface="Bookman Old Style" panose="02050604050505020204" pitchFamily="18" charset="0"/>
                      </a:endParaRPr>
                    </a:p>
                  </a:txBody>
                  <a:tcPr/>
                </a:tc>
                <a:extLst>
                  <a:ext uri="{0D108BD9-81ED-4DB2-BD59-A6C34878D82A}">
                    <a16:rowId xmlns:a16="http://schemas.microsoft.com/office/drawing/2014/main" val="2966189701"/>
                  </a:ext>
                </a:extLst>
              </a:tr>
            </a:tbl>
          </a:graphicData>
        </a:graphic>
      </p:graphicFrame>
    </p:spTree>
    <p:extLst>
      <p:ext uri="{BB962C8B-B14F-4D97-AF65-F5344CB8AC3E}">
        <p14:creationId xmlns:p14="http://schemas.microsoft.com/office/powerpoint/2010/main" val="1131567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6C86B018-47F3-150B-464F-052CCF8E259A}"/>
            </a:ext>
          </a:extLst>
        </p:cNvPr>
        <p:cNvGrpSpPr/>
        <p:nvPr/>
      </p:nvGrpSpPr>
      <p:grpSpPr>
        <a:xfrm>
          <a:off x="0" y="0"/>
          <a:ext cx="0" cy="0"/>
          <a:chOff x="0" y="0"/>
          <a:chExt cx="0" cy="0"/>
        </a:xfrm>
      </p:grpSpPr>
      <p:sp>
        <p:nvSpPr>
          <p:cNvPr id="158" name="Google Shape;158;p6">
            <a:extLst>
              <a:ext uri="{FF2B5EF4-FFF2-40B4-BE49-F238E27FC236}">
                <a16:creationId xmlns:a16="http://schemas.microsoft.com/office/drawing/2014/main" id="{497DA5E3-9F63-B8F2-B537-6CBBA6999773}"/>
              </a:ext>
            </a:extLst>
          </p:cNvPr>
          <p:cNvSpPr txBox="1">
            <a:spLocks noGrp="1"/>
          </p:cNvSpPr>
          <p:nvPr>
            <p:ph type="body" idx="1"/>
          </p:nvPr>
        </p:nvSpPr>
        <p:spPr>
          <a:xfrm>
            <a:off x="174812" y="1125008"/>
            <a:ext cx="11842377" cy="5222197"/>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002060"/>
              </a:buClr>
              <a:buSzPts val="2800"/>
              <a:buNone/>
            </a:pPr>
            <a:endParaRPr lang="en-IN" sz="2200" dirty="0"/>
          </a:p>
        </p:txBody>
      </p:sp>
      <p:sp>
        <p:nvSpPr>
          <p:cNvPr id="160" name="Google Shape;160;p6">
            <a:extLst>
              <a:ext uri="{FF2B5EF4-FFF2-40B4-BE49-F238E27FC236}">
                <a16:creationId xmlns:a16="http://schemas.microsoft.com/office/drawing/2014/main" id="{17627C4D-F0C3-C6BD-5B85-B9DBE4D8D107}"/>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1" name="Google Shape;161;p6">
            <a:extLst>
              <a:ext uri="{FF2B5EF4-FFF2-40B4-BE49-F238E27FC236}">
                <a16:creationId xmlns:a16="http://schemas.microsoft.com/office/drawing/2014/main" id="{EFCECBE1-72BA-6E94-FF61-BC0BEE8707D1}"/>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Literature Review</a:t>
            </a:r>
            <a:endParaRPr dirty="0"/>
          </a:p>
        </p:txBody>
      </p:sp>
      <p:graphicFrame>
        <p:nvGraphicFramePr>
          <p:cNvPr id="5" name="Table 5">
            <a:extLst>
              <a:ext uri="{FF2B5EF4-FFF2-40B4-BE49-F238E27FC236}">
                <a16:creationId xmlns:a16="http://schemas.microsoft.com/office/drawing/2014/main" id="{312E9813-1AF9-530E-C075-C1FBB937F598}"/>
              </a:ext>
            </a:extLst>
          </p:cNvPr>
          <p:cNvGraphicFramePr>
            <a:graphicFrameLocks noGrp="1"/>
          </p:cNvGraphicFramePr>
          <p:nvPr>
            <p:extLst>
              <p:ext uri="{D42A27DB-BD31-4B8C-83A1-F6EECF244321}">
                <p14:modId xmlns:p14="http://schemas.microsoft.com/office/powerpoint/2010/main" val="2272763562"/>
              </p:ext>
            </p:extLst>
          </p:nvPr>
        </p:nvGraphicFramePr>
        <p:xfrm>
          <a:off x="174811" y="1125008"/>
          <a:ext cx="11842377" cy="2885952"/>
        </p:xfrm>
        <a:graphic>
          <a:graphicData uri="http://schemas.openxmlformats.org/drawingml/2006/table">
            <a:tbl>
              <a:tblPr firstRow="1" bandRow="1">
                <a:tableStyleId>{5C22544A-7EE6-4342-B048-85BDC9FD1C3A}</a:tableStyleId>
              </a:tblPr>
              <a:tblGrid>
                <a:gridCol w="756891">
                  <a:extLst>
                    <a:ext uri="{9D8B030D-6E8A-4147-A177-3AD203B41FA5}">
                      <a16:colId xmlns:a16="http://schemas.microsoft.com/office/drawing/2014/main" val="2079286574"/>
                    </a:ext>
                  </a:extLst>
                </a:gridCol>
                <a:gridCol w="2125271">
                  <a:extLst>
                    <a:ext uri="{9D8B030D-6E8A-4147-A177-3AD203B41FA5}">
                      <a16:colId xmlns:a16="http://schemas.microsoft.com/office/drawing/2014/main" val="2794299807"/>
                    </a:ext>
                  </a:extLst>
                </a:gridCol>
                <a:gridCol w="2125271">
                  <a:extLst>
                    <a:ext uri="{9D8B030D-6E8A-4147-A177-3AD203B41FA5}">
                      <a16:colId xmlns:a16="http://schemas.microsoft.com/office/drawing/2014/main" val="1021364544"/>
                    </a:ext>
                  </a:extLst>
                </a:gridCol>
                <a:gridCol w="3726926">
                  <a:extLst>
                    <a:ext uri="{9D8B030D-6E8A-4147-A177-3AD203B41FA5}">
                      <a16:colId xmlns:a16="http://schemas.microsoft.com/office/drawing/2014/main" val="384250565"/>
                    </a:ext>
                  </a:extLst>
                </a:gridCol>
                <a:gridCol w="3108018">
                  <a:extLst>
                    <a:ext uri="{9D8B030D-6E8A-4147-A177-3AD203B41FA5}">
                      <a16:colId xmlns:a16="http://schemas.microsoft.com/office/drawing/2014/main" val="703431016"/>
                    </a:ext>
                  </a:extLst>
                </a:gridCol>
              </a:tblGrid>
              <a:tr h="549705">
                <a:tc>
                  <a:txBody>
                    <a:bodyPr/>
                    <a:lstStyle/>
                    <a:p>
                      <a:pPr algn="ctr"/>
                      <a:r>
                        <a:rPr lang="en-US" sz="1500" dirty="0">
                          <a:latin typeface="Bookman Old Style" panose="02050604050505020204" pitchFamily="18" charset="0"/>
                        </a:rPr>
                        <a:t>S. No.</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Author(s)</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Year of Publication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Contribution</a:t>
                      </a:r>
                      <a:endParaRPr lang="en-IN" sz="1500" dirty="0">
                        <a:latin typeface="Bookman Old Style" panose="02050604050505020204" pitchFamily="18" charset="0"/>
                      </a:endParaRPr>
                    </a:p>
                  </a:txBody>
                  <a:tcPr/>
                </a:tc>
                <a:tc>
                  <a:txBody>
                    <a:bodyPr/>
                    <a:lstStyle/>
                    <a:p>
                      <a:pPr algn="ctr"/>
                      <a:r>
                        <a:rPr lang="en-US" sz="1500" dirty="0">
                          <a:latin typeface="Bookman Old Style" panose="02050604050505020204" pitchFamily="18" charset="0"/>
                        </a:rPr>
                        <a:t>Objective</a:t>
                      </a:r>
                      <a:endParaRPr lang="en-IN" sz="1500" dirty="0">
                        <a:latin typeface="Bookman Old Style" panose="02050604050505020204" pitchFamily="18" charset="0"/>
                      </a:endParaRPr>
                    </a:p>
                  </a:txBody>
                  <a:tcPr/>
                </a:tc>
                <a:extLst>
                  <a:ext uri="{0D108BD9-81ED-4DB2-BD59-A6C34878D82A}">
                    <a16:rowId xmlns:a16="http://schemas.microsoft.com/office/drawing/2014/main" val="2531658464"/>
                  </a:ext>
                </a:extLst>
              </a:tr>
              <a:tr h="778749">
                <a:tc>
                  <a:txBody>
                    <a:bodyPr/>
                    <a:lstStyle/>
                    <a:p>
                      <a:r>
                        <a:rPr lang="en-US" sz="1500" dirty="0">
                          <a:latin typeface="Bookman Old Style" panose="02050604050505020204" pitchFamily="18" charset="0"/>
                        </a:rPr>
                        <a:t>13</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Choi, Park &amp; Chung</a:t>
                      </a:r>
                    </a:p>
                  </a:txBody>
                  <a:tcPr/>
                </a:tc>
                <a:tc>
                  <a:txBody>
                    <a:bodyPr/>
                    <a:lstStyle/>
                    <a:p>
                      <a:r>
                        <a:rPr lang="en-US" sz="1500" dirty="0">
                          <a:latin typeface="Bookman Old Style" panose="02050604050505020204" pitchFamily="18" charset="0"/>
                        </a:rPr>
                        <a:t>2021</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Developed lightweight neural networks for real-time thermal prediction in mobile processors.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Explore NN models for efficient and fast temperature forecasting.</a:t>
                      </a:r>
                      <a:endParaRPr lang="en-IN" sz="1500" dirty="0">
                        <a:latin typeface="Bookman Old Style" panose="02050604050505020204" pitchFamily="18" charset="0"/>
                      </a:endParaRPr>
                    </a:p>
                  </a:txBody>
                  <a:tcPr/>
                </a:tc>
                <a:extLst>
                  <a:ext uri="{0D108BD9-81ED-4DB2-BD59-A6C34878D82A}">
                    <a16:rowId xmlns:a16="http://schemas.microsoft.com/office/drawing/2014/main" val="1205226713"/>
                  </a:ext>
                </a:extLst>
              </a:tr>
              <a:tr h="778749">
                <a:tc>
                  <a:txBody>
                    <a:bodyPr/>
                    <a:lstStyle/>
                    <a:p>
                      <a:r>
                        <a:rPr lang="en-US" sz="1500" dirty="0">
                          <a:latin typeface="Bookman Old Style" panose="02050604050505020204" pitchFamily="18" charset="0"/>
                        </a:rPr>
                        <a:t>14</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Islam, Ahmed &amp; Lee</a:t>
                      </a:r>
                    </a:p>
                  </a:txBody>
                  <a:tcPr/>
                </a:tc>
                <a:tc>
                  <a:txBody>
                    <a:bodyPr/>
                    <a:lstStyle/>
                    <a:p>
                      <a:r>
                        <a:rPr lang="en-US" sz="1500" dirty="0">
                          <a:latin typeface="Bookman Old Style" panose="02050604050505020204" pitchFamily="18" charset="0"/>
                        </a:rPr>
                        <a:t>2022</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Found lightweight regression models suitable for real-time embedded thermal prediction.</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Guide selection of low-overhead ML models for real-time use.</a:t>
                      </a:r>
                      <a:endParaRPr lang="en-IN" sz="1500" dirty="0">
                        <a:latin typeface="Bookman Old Style" panose="02050604050505020204" pitchFamily="18" charset="0"/>
                      </a:endParaRPr>
                    </a:p>
                  </a:txBody>
                  <a:tcPr/>
                </a:tc>
                <a:extLst>
                  <a:ext uri="{0D108BD9-81ED-4DB2-BD59-A6C34878D82A}">
                    <a16:rowId xmlns:a16="http://schemas.microsoft.com/office/drawing/2014/main" val="3868896603"/>
                  </a:ext>
                </a:extLst>
              </a:tr>
              <a:tr h="778749">
                <a:tc>
                  <a:txBody>
                    <a:bodyPr/>
                    <a:lstStyle/>
                    <a:p>
                      <a:r>
                        <a:rPr lang="en-US" sz="1500" dirty="0">
                          <a:latin typeface="Bookman Old Style" panose="02050604050505020204" pitchFamily="18" charset="0"/>
                        </a:rPr>
                        <a:t>15</a:t>
                      </a:r>
                      <a:endParaRPr lang="en-IN" sz="1500" dirty="0">
                        <a:latin typeface="Bookman Old Style" panose="02050604050505020204" pitchFamily="18" charset="0"/>
                      </a:endParaRPr>
                    </a:p>
                  </a:txBody>
                  <a:tcPr/>
                </a:tc>
                <a:tc>
                  <a:txBody>
                    <a:bodyPr/>
                    <a:lstStyle/>
                    <a:p>
                      <a:r>
                        <a:rPr lang="en-IN" sz="1500" dirty="0">
                          <a:latin typeface="Bookman Old Style" panose="02050604050505020204" pitchFamily="18" charset="0"/>
                        </a:rPr>
                        <a:t>Kumar, Singh &amp; Xu</a:t>
                      </a:r>
                    </a:p>
                  </a:txBody>
                  <a:tcPr/>
                </a:tc>
                <a:tc>
                  <a:txBody>
                    <a:bodyPr/>
                    <a:lstStyle/>
                    <a:p>
                      <a:r>
                        <a:rPr lang="en-US" sz="1500" dirty="0">
                          <a:latin typeface="Bookman Old Style" panose="02050604050505020204" pitchFamily="18" charset="0"/>
                        </a:rPr>
                        <a:t>2023</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Proposed hybrid ML-based thermal regulation improving power efficiency in edge devices.</a:t>
                      </a:r>
                      <a:endParaRPr lang="en-IN" sz="1500" dirty="0">
                        <a:latin typeface="Bookman Old Style" panose="02050604050505020204" pitchFamily="18" charset="0"/>
                      </a:endParaRPr>
                    </a:p>
                  </a:txBody>
                  <a:tcPr/>
                </a:tc>
                <a:tc>
                  <a:txBody>
                    <a:bodyPr/>
                    <a:lstStyle/>
                    <a:p>
                      <a:r>
                        <a:rPr lang="en-US" sz="1500" dirty="0">
                          <a:latin typeface="Bookman Old Style" panose="02050604050505020204" pitchFamily="18" charset="0"/>
                        </a:rPr>
                        <a:t>Inspire hybrid or advanced ML strategies for future thermal optimization.</a:t>
                      </a:r>
                      <a:endParaRPr lang="en-IN" sz="1500" dirty="0">
                        <a:latin typeface="Bookman Old Style" panose="02050604050505020204" pitchFamily="18" charset="0"/>
                      </a:endParaRPr>
                    </a:p>
                  </a:txBody>
                  <a:tcPr/>
                </a:tc>
                <a:extLst>
                  <a:ext uri="{0D108BD9-81ED-4DB2-BD59-A6C34878D82A}">
                    <a16:rowId xmlns:a16="http://schemas.microsoft.com/office/drawing/2014/main" val="1953858397"/>
                  </a:ext>
                </a:extLst>
              </a:tr>
            </a:tbl>
          </a:graphicData>
        </a:graphic>
      </p:graphicFrame>
    </p:spTree>
    <p:extLst>
      <p:ext uri="{BB962C8B-B14F-4D97-AF65-F5344CB8AC3E}">
        <p14:creationId xmlns:p14="http://schemas.microsoft.com/office/powerpoint/2010/main" val="2742096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2" y="1125008"/>
            <a:ext cx="11842377" cy="5222197"/>
          </a:xfrm>
          <a:prstGeom prst="rect">
            <a:avLst/>
          </a:prstGeom>
          <a:noFill/>
          <a:ln>
            <a:noFill/>
          </a:ln>
        </p:spPr>
        <p:txBody>
          <a:bodyPr spcFirstLastPara="1" wrap="square" lIns="91425" tIns="45700" rIns="91425" bIns="45700" anchor="t" anchorCtr="0">
            <a:normAutofit/>
          </a:bodyPr>
          <a:lstStyle/>
          <a:p>
            <a:pPr marL="228600" lvl="0" indent="-228600" algn="just"/>
            <a:r>
              <a:rPr lang="en-IN" sz="2600" b="1" dirty="0"/>
              <a:t>Trends in Literature: </a:t>
            </a:r>
            <a:r>
              <a:rPr lang="en-US" sz="2000" dirty="0">
                <a:solidFill>
                  <a:schemeClr val="tx1"/>
                </a:solidFill>
              </a:rPr>
              <a:t>Recent research shows a clear shift from reactive thermal throttling to predictive, ML-based thermal management. Studies focus on forecasting CPU temperature using lightweight models, improving performance stability, and reducing thermal spikes. The trend is toward real-time prediction, energy efficiency, and smooth CPU frequency control.</a:t>
            </a:r>
          </a:p>
          <a:p>
            <a:pPr marL="0" lvl="0" indent="0" algn="just">
              <a:buNone/>
            </a:pPr>
            <a:endParaRPr lang="en-US" sz="2000" dirty="0">
              <a:solidFill>
                <a:schemeClr val="tx1"/>
              </a:solidFill>
            </a:endParaRPr>
          </a:p>
          <a:p>
            <a:pPr marL="0" lvl="0" indent="0" algn="just">
              <a:buNone/>
            </a:pPr>
            <a:endParaRPr lang="en-IN" sz="2000" dirty="0">
              <a:solidFill>
                <a:schemeClr val="tx1"/>
              </a:solidFill>
            </a:endParaRPr>
          </a:p>
          <a:p>
            <a:pPr marL="228600" lvl="0" indent="-228600" algn="just"/>
            <a:r>
              <a:rPr lang="en-IN" sz="2600" b="1" dirty="0"/>
              <a:t>Relevance to current research: </a:t>
            </a:r>
            <a:r>
              <a:rPr lang="en-US" sz="2000" dirty="0">
                <a:solidFill>
                  <a:schemeClr val="tx1"/>
                </a:solidFill>
              </a:rPr>
              <a:t>This project aligns directly with modern research that uses machine learning for proactive thermal control. Current studies highlight the need for accurate temperature forecasting, real-time optimization, and performance stability—exactly what this ML-based thermal throttling system aims to achieve.</a:t>
            </a:r>
            <a:endParaRPr lang="en-IN" sz="2000" dirty="0">
              <a:solidFill>
                <a:schemeClr val="tx1"/>
              </a:solidFill>
            </a:endParaRPr>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251013" y="1571625"/>
            <a:ext cx="11842377" cy="5636005"/>
          </a:xfrm>
          <a:prstGeom prst="rect">
            <a:avLst/>
          </a:prstGeom>
          <a:noFill/>
          <a:ln>
            <a:noFill/>
          </a:ln>
        </p:spPr>
        <p:txBody>
          <a:bodyPr spcFirstLastPara="1" wrap="square" lIns="91425" tIns="45700" rIns="91425" bIns="45700" anchor="t" anchorCtr="0">
            <a:normAutofit/>
          </a:bodyPr>
          <a:lstStyle/>
          <a:p>
            <a:pPr algn="just"/>
            <a:r>
              <a:rPr lang="en-IN" sz="2400" b="1" dirty="0"/>
              <a:t>Clear statement of the problem:</a:t>
            </a:r>
            <a:r>
              <a:rPr lang="en-US" sz="1600" dirty="0"/>
              <a:t> </a:t>
            </a:r>
            <a:r>
              <a:rPr lang="en-US" sz="2000" dirty="0">
                <a:solidFill>
                  <a:schemeClr val="tx1"/>
                </a:solidFill>
              </a:rPr>
              <a:t>Traditional CPU thermal management reacts to overheating by abruptly slowing performance, causing noticeable lag. This reactive approach also wastes battery life and generates excess heat.</a:t>
            </a:r>
            <a:br>
              <a:rPr lang="en-US" sz="2000" dirty="0">
                <a:solidFill>
                  <a:schemeClr val="tx1"/>
                </a:solidFill>
              </a:rPr>
            </a:br>
            <a:endParaRPr lang="en-US" sz="2000" dirty="0">
              <a:solidFill>
                <a:schemeClr val="tx1"/>
              </a:solidFill>
            </a:endParaRPr>
          </a:p>
          <a:p>
            <a:pPr algn="just"/>
            <a:r>
              <a:rPr lang="en-IN" sz="2400" b="1" dirty="0"/>
              <a:t>Context of the Problem: </a:t>
            </a:r>
            <a:r>
              <a:rPr lang="en-US" sz="2000" dirty="0">
                <a:solidFill>
                  <a:schemeClr val="tx1"/>
                </a:solidFill>
              </a:rPr>
              <a:t>Modern mobile devices and laptops struggle with heat buildup during intensive tasks. Conventional thermal throttling reacts too late, forcing aggressive performance cuts that create user-noticeable stutters and inefficient power spikes.</a:t>
            </a:r>
          </a:p>
          <a:p>
            <a:pPr marL="50800" indent="0" algn="just">
              <a:buNone/>
            </a:pPr>
            <a:endParaRPr lang="en-US" sz="2000" dirty="0">
              <a:solidFill>
                <a:schemeClr val="tx1"/>
              </a:solidFill>
            </a:endParaRPr>
          </a:p>
          <a:p>
            <a:pPr marL="342900" indent="-342900" algn="just"/>
            <a:r>
              <a:rPr lang="en-US" sz="2400" b="1" dirty="0"/>
              <a:t>Significance of Addressing the Problem: </a:t>
            </a:r>
            <a:r>
              <a:rPr lang="en-US" sz="2000" dirty="0">
                <a:solidFill>
                  <a:schemeClr val="tx1"/>
                </a:solidFill>
              </a:rPr>
              <a:t>Proactively preventing overheating maintains consistent performance during critical tasks like gaming or video editing. It also directly extends battery life and improves long-term device reliability by reducing thermal stress.</a:t>
            </a: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7662" y="1403952"/>
            <a:ext cx="11496675" cy="5454048"/>
          </a:xfrm>
          <a:prstGeom prst="rect">
            <a:avLst/>
          </a:prstGeom>
          <a:noFill/>
          <a:ln>
            <a:noFill/>
          </a:ln>
        </p:spPr>
        <p:txBody>
          <a:bodyPr spcFirstLastPara="1" wrap="square" lIns="91425" tIns="45700" rIns="91425" bIns="45700" anchor="t" anchorCtr="0">
            <a:normAutofit/>
          </a:bodyPr>
          <a:lstStyle/>
          <a:p>
            <a:r>
              <a:rPr lang="en-US" sz="2200" dirty="0">
                <a:solidFill>
                  <a:schemeClr val="tx1"/>
                </a:solidFill>
              </a:rPr>
              <a:t>Develop a machine learning model to accurately predict CPU temperature 3-5 seconds in advance using real-time system metrics.</a:t>
            </a:r>
          </a:p>
          <a:p>
            <a:r>
              <a:rPr lang="en-US" sz="2200" dirty="0">
                <a:solidFill>
                  <a:schemeClr val="tx1"/>
                </a:solidFill>
              </a:rPr>
              <a:t>Design a proactive control algorithm that smoothly scales CPU frequency based on predictions to prevent thermal throttling.</a:t>
            </a:r>
          </a:p>
          <a:p>
            <a:r>
              <a:rPr lang="en-US" sz="2200" dirty="0">
                <a:solidFill>
                  <a:schemeClr val="tx1"/>
                </a:solidFill>
              </a:rPr>
              <a:t>Achieve a measurable improvement in system stability by reducing performance stutters and FPS drops during intensive workloads.</a:t>
            </a:r>
          </a:p>
          <a:p>
            <a:r>
              <a:rPr lang="en-US" sz="2200" dirty="0">
                <a:solidFill>
                  <a:schemeClr val="tx1"/>
                </a:solidFill>
              </a:rPr>
              <a:t>Enhance power efficiency to extend battery life and reduce overall device operating </a:t>
            </a:r>
            <a:r>
              <a:rPr lang="en-US" sz="2200" dirty="0" err="1">
                <a:solidFill>
                  <a:schemeClr val="tx1"/>
                </a:solidFill>
              </a:rPr>
              <a:t>temperatures.diagnosis</a:t>
            </a:r>
            <a:r>
              <a:rPr lang="en-US" sz="2400" dirty="0">
                <a:solidFill>
                  <a:schemeClr val="tx1"/>
                </a:solidFill>
              </a:rPr>
              <a:t>.</a:t>
            </a:r>
          </a:p>
          <a:p>
            <a:pPr marL="0" indent="0">
              <a:lnSpc>
                <a:spcPct val="100000"/>
              </a:lnSpc>
              <a:spcBef>
                <a:spcPts val="0"/>
              </a:spcBef>
              <a:buNone/>
            </a:pPr>
            <a:endParaRPr lang="en-IN" sz="1600" b="1" dirty="0">
              <a:solidFill>
                <a:schemeClr val="tx1"/>
              </a:solidFill>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839401"/>
            <a:ext cx="11842377" cy="5277985"/>
          </a:xfrm>
          <a:prstGeom prst="rect">
            <a:avLst/>
          </a:prstGeom>
          <a:noFill/>
          <a:ln>
            <a:noFill/>
          </a:ln>
        </p:spPr>
        <p:txBody>
          <a:bodyPr spcFirstLastPara="1" wrap="square" lIns="91425" tIns="45700" rIns="91425" bIns="45700" anchor="t" anchorCtr="0">
            <a:noAutofit/>
          </a:bodyPr>
          <a:lstStyle/>
          <a:p>
            <a:pPr marL="0" lvl="0" indent="0" algn="just">
              <a:buNone/>
            </a:pPr>
            <a:r>
              <a:rPr lang="en-US" sz="1600" b="1" dirty="0"/>
              <a:t>Data Collection &amp; Preprocessing:</a:t>
            </a:r>
          </a:p>
          <a:p>
            <a:pPr marL="285750" indent="-285750" algn="just"/>
            <a:r>
              <a:rPr lang="en-US" sz="1300" dirty="0">
                <a:solidFill>
                  <a:schemeClr val="tx1"/>
                </a:solidFill>
              </a:rPr>
              <a:t>Develop a data logger to collect real-time sensor data (CPU temp, load, frequency, power draw) at high frequency.</a:t>
            </a:r>
          </a:p>
          <a:p>
            <a:pPr marL="285750" indent="-285750" algn="just"/>
            <a:r>
              <a:rPr lang="en-US" sz="1300" dirty="0">
                <a:solidFill>
                  <a:schemeClr val="tx1"/>
                </a:solidFill>
              </a:rPr>
              <a:t>Execute diverse workloads (idle to gaming) to create comprehensive dataset.</a:t>
            </a:r>
          </a:p>
          <a:p>
            <a:pPr marL="285750" indent="-285750" algn="just"/>
            <a:r>
              <a:rPr lang="en-US" sz="1300" dirty="0">
                <a:solidFill>
                  <a:schemeClr val="tx1"/>
                </a:solidFill>
              </a:rPr>
              <a:t>Clean and normalize data, then structure it for supervised learning with future temperature as the target label.</a:t>
            </a:r>
          </a:p>
          <a:p>
            <a:pPr marL="0" lvl="0" indent="0" algn="just">
              <a:buNone/>
            </a:pPr>
            <a:r>
              <a:rPr lang="en-US" sz="1600" b="1" dirty="0"/>
              <a:t>Model Training &amp; Selection:</a:t>
            </a:r>
          </a:p>
          <a:p>
            <a:pPr marL="285750" indent="-285750" algn="just"/>
            <a:r>
              <a:rPr lang="en-US" sz="1300" dirty="0">
                <a:solidFill>
                  <a:schemeClr val="tx1"/>
                </a:solidFill>
              </a:rPr>
              <a:t>Test multiple algorithms: Linear Regression (baseline), Gradient Boosting (</a:t>
            </a:r>
            <a:r>
              <a:rPr lang="en-US" sz="1300" dirty="0" err="1">
                <a:solidFill>
                  <a:schemeClr val="tx1"/>
                </a:solidFill>
              </a:rPr>
              <a:t>XGBoost</a:t>
            </a:r>
            <a:r>
              <a:rPr lang="en-US" sz="1300" dirty="0">
                <a:solidFill>
                  <a:schemeClr val="tx1"/>
                </a:solidFill>
              </a:rPr>
              <a:t>), and a simple Neural Network.</a:t>
            </a:r>
          </a:p>
          <a:p>
            <a:pPr marL="285750" indent="-285750" algn="just"/>
            <a:r>
              <a:rPr lang="en-US" sz="1300" dirty="0">
                <a:solidFill>
                  <a:schemeClr val="tx1"/>
                </a:solidFill>
              </a:rPr>
              <a:t>Use time-series cross-validation to evaluate prediction accuracy (Mean Absolute Error).</a:t>
            </a:r>
          </a:p>
          <a:p>
            <a:pPr marL="285750" indent="-285750" algn="just"/>
            <a:r>
              <a:rPr lang="en-US" sz="1300" dirty="0">
                <a:solidFill>
                  <a:schemeClr val="tx1"/>
                </a:solidFill>
              </a:rPr>
              <a:t>Select the best-performing model that balances accuracy with low computational overhead.</a:t>
            </a:r>
          </a:p>
          <a:p>
            <a:pPr marL="0" lvl="0" indent="0" algn="just">
              <a:buNone/>
            </a:pPr>
            <a:r>
              <a:rPr lang="en-US" sz="1600" b="1" dirty="0"/>
              <a:t>Real-Time System Integration:</a:t>
            </a:r>
          </a:p>
          <a:p>
            <a:pPr marL="285750" indent="-285750" algn="just"/>
            <a:r>
              <a:rPr lang="en-US" sz="1300" dirty="0">
                <a:solidFill>
                  <a:schemeClr val="tx1"/>
                </a:solidFill>
              </a:rPr>
              <a:t>Create a background daemon that continuously samples system sensors.</a:t>
            </a:r>
          </a:p>
          <a:p>
            <a:pPr marL="285750" indent="-285750" algn="just"/>
            <a:r>
              <a:rPr lang="en-US" sz="1300" dirty="0">
                <a:solidFill>
                  <a:schemeClr val="tx1"/>
                </a:solidFill>
              </a:rPr>
              <a:t>Implement the trained model for live inference, generating temperature forecasts every 1-2 seconds.</a:t>
            </a:r>
          </a:p>
          <a:p>
            <a:pPr marL="285750" indent="-285750" algn="just"/>
            <a:r>
              <a:rPr lang="en-US" sz="1300" dirty="0">
                <a:solidFill>
                  <a:schemeClr val="tx1"/>
                </a:solidFill>
              </a:rPr>
              <a:t>Develop a control algorithm that translates predictions into smooth CPU frequency adjustments, preventing thermal thresholds from being reached.</a:t>
            </a:r>
          </a:p>
          <a:p>
            <a:pPr marL="0" lvl="0" indent="0" algn="just">
              <a:buNone/>
            </a:pPr>
            <a:r>
              <a:rPr lang="en-US" sz="1600" b="1" dirty="0"/>
              <a:t>Performance Evaluation:</a:t>
            </a:r>
          </a:p>
          <a:p>
            <a:pPr marL="285750" indent="-285750" algn="just"/>
            <a:r>
              <a:rPr lang="en-US" sz="1300" dirty="0">
                <a:solidFill>
                  <a:schemeClr val="tx1"/>
                </a:solidFill>
              </a:rPr>
              <a:t>Conduct A/B testing comparing the ML optimizer against standard OS throttling.</a:t>
            </a:r>
          </a:p>
          <a:p>
            <a:pPr marL="285750" indent="-285750" algn="just"/>
            <a:r>
              <a:rPr lang="en-US" sz="1300" dirty="0">
                <a:solidFill>
                  <a:schemeClr val="tx1"/>
                </a:solidFill>
              </a:rPr>
              <a:t>Measure key metrics: performance consistency (FPS stability), thermal peaks, battery consumption, and system overhead.</a:t>
            </a:r>
          </a:p>
          <a:p>
            <a:pPr marL="285750" indent="-285750" algn="just"/>
            <a:r>
              <a:rPr lang="en-US" sz="1300" dirty="0">
                <a:solidFill>
                  <a:schemeClr val="tx1"/>
                </a:solidFill>
              </a:rPr>
              <a:t>Iterate on the control parameters to optimize the balance between temperature management and performance.</a:t>
            </a:r>
            <a:endParaRPr sz="1300" dirty="0">
              <a:solidFill>
                <a:schemeClr val="tx1"/>
              </a:solidFill>
            </a:endParaRPr>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193" name="Google Shape;193;p10"/>
          <p:cNvSpPr txBox="1"/>
          <p:nvPr/>
        </p:nvSpPr>
        <p:spPr>
          <a:xfrm>
            <a:off x="2284362" y="0"/>
            <a:ext cx="8146571" cy="818606"/>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Methodology</a:t>
            </a:r>
            <a:endParaRPr dirty="0">
              <a:solidFill>
                <a:srgbClr val="C00000"/>
              </a:solidFill>
            </a:endParaRPr>
          </a:p>
        </p:txBody>
      </p:sp>
      <p:pic>
        <p:nvPicPr>
          <p:cNvPr id="4" name="Picture 3">
            <a:extLst>
              <a:ext uri="{FF2B5EF4-FFF2-40B4-BE49-F238E27FC236}">
                <a16:creationId xmlns:a16="http://schemas.microsoft.com/office/drawing/2014/main" id="{9524C667-B520-8A9C-AF6B-5F31051C66DF}"/>
              </a:ext>
            </a:extLst>
          </p:cNvPr>
          <p:cNvPicPr>
            <a:picLocks noChangeAspect="1"/>
          </p:cNvPicPr>
          <p:nvPr/>
        </p:nvPicPr>
        <p:blipFill>
          <a:blip r:embed="rId3"/>
          <a:stretch>
            <a:fillRect/>
          </a:stretch>
        </p:blipFill>
        <p:spPr>
          <a:xfrm>
            <a:off x="2437468" y="717416"/>
            <a:ext cx="8146571" cy="57309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2F673-098A-E7ED-93DC-FD3A3091E5C3}"/>
              </a:ext>
            </a:extLst>
          </p:cNvPr>
          <p:cNvSpPr>
            <a:spLocks noGrp="1"/>
          </p:cNvSpPr>
          <p:nvPr>
            <p:ph type="ctrTitle"/>
          </p:nvPr>
        </p:nvSpPr>
        <p:spPr>
          <a:xfrm>
            <a:off x="1524000" y="0"/>
            <a:ext cx="9144000" cy="787459"/>
          </a:xfrm>
        </p:spPr>
        <p:txBody>
          <a:bodyPr>
            <a:normAutofit/>
          </a:bodyPr>
          <a:lstStyle/>
          <a:p>
            <a:r>
              <a:rPr lang="en-US" sz="4000" b="1" dirty="0">
                <a:solidFill>
                  <a:srgbClr val="C00000"/>
                </a:solidFill>
              </a:rPr>
              <a:t>Tools And Techniques Used</a:t>
            </a:r>
            <a:endParaRPr lang="en-IN" sz="4000" b="1" dirty="0">
              <a:solidFill>
                <a:srgbClr val="C00000"/>
              </a:solidFill>
            </a:endParaRPr>
          </a:p>
        </p:txBody>
      </p:sp>
      <p:sp>
        <p:nvSpPr>
          <p:cNvPr id="3" name="Subtitle 2">
            <a:extLst>
              <a:ext uri="{FF2B5EF4-FFF2-40B4-BE49-F238E27FC236}">
                <a16:creationId xmlns:a16="http://schemas.microsoft.com/office/drawing/2014/main" id="{6BDCC043-ECB0-B092-D210-9FFA87B4F697}"/>
              </a:ext>
            </a:extLst>
          </p:cNvPr>
          <p:cNvSpPr>
            <a:spLocks noGrp="1"/>
          </p:cNvSpPr>
          <p:nvPr>
            <p:ph type="subTitle" idx="1"/>
          </p:nvPr>
        </p:nvSpPr>
        <p:spPr>
          <a:xfrm>
            <a:off x="139148" y="949234"/>
            <a:ext cx="11547755" cy="5529944"/>
          </a:xfrm>
        </p:spPr>
        <p:txBody>
          <a:bodyPr>
            <a:normAutofit fontScale="70000" lnSpcReduction="20000"/>
          </a:bodyPr>
          <a:lstStyle/>
          <a:p>
            <a:pPr algn="l"/>
            <a:r>
              <a:rPr lang="en-IN" b="1" dirty="0">
                <a:solidFill>
                  <a:srgbClr val="002060"/>
                </a:solidFill>
                <a:latin typeface="Bookman Old Style" panose="02050604050505020204" pitchFamily="18" charset="0"/>
              </a:rPr>
              <a:t>Data Collection &amp; Processing:</a:t>
            </a:r>
          </a:p>
          <a:p>
            <a:pPr algn="l">
              <a:buFont typeface="Arial" panose="020B0604020202020204" pitchFamily="34" charset="0"/>
              <a:buChar char="•"/>
            </a:pPr>
            <a:r>
              <a:rPr lang="en-IN" dirty="0">
                <a:solidFill>
                  <a:schemeClr val="tx1"/>
                </a:solidFill>
                <a:latin typeface="Bookman Old Style" panose="02050604050505020204" pitchFamily="18" charset="0"/>
              </a:rPr>
              <a:t>Tools: Python, System monitoring tools (</a:t>
            </a:r>
            <a:r>
              <a:rPr lang="en-IN" dirty="0" err="1">
                <a:solidFill>
                  <a:schemeClr val="tx1"/>
                </a:solidFill>
                <a:latin typeface="Bookman Old Style" panose="02050604050505020204" pitchFamily="18" charset="0"/>
              </a:rPr>
              <a:t>pySMBIOS</a:t>
            </a:r>
            <a:r>
              <a:rPr lang="en-IN" dirty="0">
                <a:solidFill>
                  <a:schemeClr val="tx1"/>
                </a:solidFill>
                <a:latin typeface="Bookman Old Style" panose="02050604050505020204" pitchFamily="18" charset="0"/>
              </a:rPr>
              <a:t>, Intel Power Gadget), Custom data logger</a:t>
            </a:r>
          </a:p>
          <a:p>
            <a:pPr algn="l">
              <a:buFont typeface="Arial" panose="020B0604020202020204" pitchFamily="34" charset="0"/>
              <a:buChar char="•"/>
            </a:pPr>
            <a:r>
              <a:rPr lang="en-IN" dirty="0">
                <a:solidFill>
                  <a:schemeClr val="tx1"/>
                </a:solidFill>
                <a:latin typeface="Bookman Old Style" panose="02050604050505020204" pitchFamily="18" charset="0"/>
              </a:rPr>
              <a:t>Techniques: Time-series data aggregation, Feature engineering, Data normalization (</a:t>
            </a:r>
            <a:r>
              <a:rPr lang="en-IN" dirty="0" err="1">
                <a:solidFill>
                  <a:schemeClr val="tx1"/>
                </a:solidFill>
                <a:latin typeface="Bookman Old Style" panose="02050604050505020204" pitchFamily="18" charset="0"/>
              </a:rPr>
              <a:t>StandardScaler</a:t>
            </a:r>
            <a:r>
              <a:rPr lang="en-IN" dirty="0">
                <a:solidFill>
                  <a:schemeClr val="tx1"/>
                </a:solidFill>
                <a:latin typeface="Bookman Old Style" panose="02050604050505020204" pitchFamily="18" charset="0"/>
              </a:rPr>
              <a:t>)</a:t>
            </a:r>
          </a:p>
          <a:p>
            <a:pPr algn="l"/>
            <a:endParaRPr lang="en-IN" dirty="0">
              <a:solidFill>
                <a:schemeClr val="tx1"/>
              </a:solidFill>
              <a:latin typeface="Bookman Old Style" panose="02050604050505020204" pitchFamily="18" charset="0"/>
            </a:endParaRPr>
          </a:p>
          <a:p>
            <a:pPr algn="l"/>
            <a:r>
              <a:rPr lang="en-IN" b="1" dirty="0">
                <a:solidFill>
                  <a:srgbClr val="002060"/>
                </a:solidFill>
                <a:latin typeface="Bookman Old Style" panose="02050604050505020204" pitchFamily="18" charset="0"/>
              </a:rPr>
              <a:t>ML Development:</a:t>
            </a:r>
          </a:p>
          <a:p>
            <a:pPr algn="l">
              <a:buFont typeface="Arial" panose="020B0604020202020204" pitchFamily="34" charset="0"/>
              <a:buChar char="•"/>
            </a:pPr>
            <a:r>
              <a:rPr lang="en-IN" dirty="0">
                <a:solidFill>
                  <a:schemeClr val="tx1"/>
                </a:solidFill>
                <a:latin typeface="Bookman Old Style" panose="02050604050505020204" pitchFamily="18" charset="0"/>
              </a:rPr>
              <a:t>Tools: Scikit-learn, </a:t>
            </a:r>
            <a:r>
              <a:rPr lang="en-IN" dirty="0" err="1">
                <a:solidFill>
                  <a:schemeClr val="tx1"/>
                </a:solidFill>
                <a:latin typeface="Bookman Old Style" panose="02050604050505020204" pitchFamily="18" charset="0"/>
              </a:rPr>
              <a:t>XGBoost</a:t>
            </a:r>
            <a:r>
              <a:rPr lang="en-IN" dirty="0">
                <a:solidFill>
                  <a:schemeClr val="tx1"/>
                </a:solidFill>
                <a:latin typeface="Bookman Old Style" panose="02050604050505020204" pitchFamily="18" charset="0"/>
              </a:rPr>
              <a:t>, </a:t>
            </a:r>
            <a:r>
              <a:rPr lang="en-IN" dirty="0" err="1">
                <a:solidFill>
                  <a:schemeClr val="tx1"/>
                </a:solidFill>
                <a:latin typeface="Bookman Old Style" panose="02050604050505020204" pitchFamily="18" charset="0"/>
              </a:rPr>
              <a:t>PyTorch</a:t>
            </a:r>
            <a:r>
              <a:rPr lang="en-IN" dirty="0">
                <a:solidFill>
                  <a:schemeClr val="tx1"/>
                </a:solidFill>
                <a:latin typeface="Bookman Old Style" panose="02050604050505020204" pitchFamily="18" charset="0"/>
              </a:rPr>
              <a:t>/TensorFlow, </a:t>
            </a:r>
            <a:r>
              <a:rPr lang="en-IN" dirty="0" err="1">
                <a:solidFill>
                  <a:schemeClr val="tx1"/>
                </a:solidFill>
                <a:latin typeface="Bookman Old Style" panose="02050604050505020204" pitchFamily="18" charset="0"/>
              </a:rPr>
              <a:t>Jupyter</a:t>
            </a:r>
            <a:r>
              <a:rPr lang="en-IN" dirty="0">
                <a:solidFill>
                  <a:schemeClr val="tx1"/>
                </a:solidFill>
                <a:latin typeface="Bookman Old Style" panose="02050604050505020204" pitchFamily="18" charset="0"/>
              </a:rPr>
              <a:t> Notebooks</a:t>
            </a:r>
          </a:p>
          <a:p>
            <a:pPr algn="l">
              <a:buFont typeface="Arial" panose="020B0604020202020204" pitchFamily="34" charset="0"/>
              <a:buChar char="•"/>
            </a:pPr>
            <a:r>
              <a:rPr lang="en-IN" dirty="0">
                <a:solidFill>
                  <a:schemeClr val="tx1"/>
                </a:solidFill>
                <a:latin typeface="Bookman Old Style" panose="02050604050505020204" pitchFamily="18" charset="0"/>
              </a:rPr>
              <a:t>Techniques: Regression </a:t>
            </a:r>
            <a:r>
              <a:rPr lang="en-IN" dirty="0" err="1">
                <a:solidFill>
                  <a:schemeClr val="tx1"/>
                </a:solidFill>
                <a:latin typeface="Bookman Old Style" panose="02050604050505020204" pitchFamily="18" charset="0"/>
              </a:rPr>
              <a:t>modeling</a:t>
            </a:r>
            <a:r>
              <a:rPr lang="en-IN" dirty="0">
                <a:solidFill>
                  <a:schemeClr val="tx1"/>
                </a:solidFill>
                <a:latin typeface="Bookman Old Style" panose="02050604050505020204" pitchFamily="18" charset="0"/>
              </a:rPr>
              <a:t>, Hyperparameter tuning, Cross-validation, Feature importance analysis</a:t>
            </a:r>
          </a:p>
          <a:p>
            <a:pPr algn="l"/>
            <a:endParaRPr lang="en-IN" dirty="0">
              <a:solidFill>
                <a:schemeClr val="tx1"/>
              </a:solidFill>
              <a:latin typeface="Bookman Old Style" panose="02050604050505020204" pitchFamily="18" charset="0"/>
            </a:endParaRPr>
          </a:p>
          <a:p>
            <a:pPr algn="l"/>
            <a:r>
              <a:rPr lang="en-IN" b="1" dirty="0">
                <a:solidFill>
                  <a:srgbClr val="002060"/>
                </a:solidFill>
                <a:latin typeface="Bookman Old Style" panose="02050604050505020204" pitchFamily="18" charset="0"/>
              </a:rPr>
              <a:t>System Implementation:</a:t>
            </a:r>
          </a:p>
          <a:p>
            <a:pPr algn="l">
              <a:buFont typeface="Arial" panose="020B0604020202020204" pitchFamily="34" charset="0"/>
              <a:buChar char="•"/>
            </a:pPr>
            <a:r>
              <a:rPr lang="en-IN" dirty="0">
                <a:solidFill>
                  <a:schemeClr val="tx1"/>
                </a:solidFill>
                <a:latin typeface="Bookman Old Style" panose="02050604050505020204" pitchFamily="18" charset="0"/>
              </a:rPr>
              <a:t>Tools: C++/Rust for daemon development, Linux </a:t>
            </a:r>
            <a:r>
              <a:rPr lang="en-IN" dirty="0" err="1">
                <a:solidFill>
                  <a:schemeClr val="tx1"/>
                </a:solidFill>
                <a:latin typeface="Bookman Old Style" panose="02050604050505020204" pitchFamily="18" charset="0"/>
              </a:rPr>
              <a:t>CPUFreq</a:t>
            </a:r>
            <a:r>
              <a:rPr lang="en-IN" dirty="0">
                <a:solidFill>
                  <a:schemeClr val="tx1"/>
                </a:solidFill>
                <a:latin typeface="Bookman Old Style" panose="02050604050505020204" pitchFamily="18" charset="0"/>
              </a:rPr>
              <a:t> subsystem, </a:t>
            </a:r>
            <a:r>
              <a:rPr lang="en-IN" dirty="0" err="1">
                <a:solidFill>
                  <a:schemeClr val="tx1"/>
                </a:solidFill>
                <a:latin typeface="Bookman Old Style" panose="02050604050505020204" pitchFamily="18" charset="0"/>
              </a:rPr>
              <a:t>Systemd</a:t>
            </a:r>
            <a:r>
              <a:rPr lang="en-IN" dirty="0">
                <a:solidFill>
                  <a:schemeClr val="tx1"/>
                </a:solidFill>
                <a:latin typeface="Bookman Old Style" panose="02050604050505020204" pitchFamily="18" charset="0"/>
              </a:rPr>
              <a:t> services</a:t>
            </a:r>
          </a:p>
          <a:p>
            <a:pPr algn="l">
              <a:buFont typeface="Arial" panose="020B0604020202020204" pitchFamily="34" charset="0"/>
              <a:buChar char="•"/>
            </a:pPr>
            <a:r>
              <a:rPr lang="en-IN" dirty="0">
                <a:solidFill>
                  <a:schemeClr val="tx1"/>
                </a:solidFill>
                <a:latin typeface="Bookman Old Style" panose="02050604050505020204" pitchFamily="18" charset="0"/>
              </a:rPr>
              <a:t>Techniques: Real-time inference, Control algorithms, Frequency scaling APIs, Inter-process communication</a:t>
            </a:r>
          </a:p>
          <a:p>
            <a:pPr algn="l"/>
            <a:endParaRPr lang="en-IN" dirty="0">
              <a:solidFill>
                <a:schemeClr val="tx1"/>
              </a:solidFill>
              <a:latin typeface="Bookman Old Style" panose="02050604050505020204" pitchFamily="18" charset="0"/>
            </a:endParaRPr>
          </a:p>
          <a:p>
            <a:pPr algn="l"/>
            <a:r>
              <a:rPr lang="en-IN" b="1" dirty="0">
                <a:solidFill>
                  <a:srgbClr val="002060"/>
                </a:solidFill>
                <a:latin typeface="Bookman Old Style" panose="02050604050505020204" pitchFamily="18" charset="0"/>
              </a:rPr>
              <a:t>Testing &amp; Evaluation:</a:t>
            </a:r>
          </a:p>
          <a:p>
            <a:pPr algn="l">
              <a:buFont typeface="Arial" panose="020B0604020202020204" pitchFamily="34" charset="0"/>
              <a:buChar char="•"/>
            </a:pPr>
            <a:r>
              <a:rPr lang="en-IN" dirty="0">
                <a:solidFill>
                  <a:schemeClr val="tx1"/>
                </a:solidFill>
                <a:latin typeface="Bookman Old Style" panose="02050604050505020204" pitchFamily="18" charset="0"/>
              </a:rPr>
              <a:t>Tools: Custom benchmark scripts, Performance monitoring tools, Power measurement equipment</a:t>
            </a:r>
          </a:p>
          <a:p>
            <a:pPr algn="l">
              <a:buFont typeface="Arial" panose="020B0604020202020204" pitchFamily="34" charset="0"/>
              <a:buChar char="•"/>
            </a:pPr>
            <a:r>
              <a:rPr lang="en-IN" dirty="0">
                <a:solidFill>
                  <a:schemeClr val="tx1"/>
                </a:solidFill>
                <a:latin typeface="Bookman Old Style" panose="02050604050505020204" pitchFamily="18" charset="0"/>
              </a:rPr>
              <a:t>Techniques: A/B testing, Statistical analysis, Performance profiling, Thermal imaging</a:t>
            </a:r>
          </a:p>
        </p:txBody>
      </p:sp>
      <p:sp>
        <p:nvSpPr>
          <p:cNvPr id="4" name="Slide Number Placeholder 3">
            <a:extLst>
              <a:ext uri="{FF2B5EF4-FFF2-40B4-BE49-F238E27FC236}">
                <a16:creationId xmlns:a16="http://schemas.microsoft.com/office/drawing/2014/main" id="{2E93BC90-2070-14DB-7130-6AE41BBEB1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extLst>
      <p:ext uri="{BB962C8B-B14F-4D97-AF65-F5344CB8AC3E}">
        <p14:creationId xmlns:p14="http://schemas.microsoft.com/office/powerpoint/2010/main" val="3875736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92500"/>
          </a:bodyPr>
          <a:lstStyle/>
          <a:p>
            <a:pPr marL="50800" indent="0">
              <a:buNone/>
            </a:pPr>
            <a:r>
              <a:rPr lang="en-US" b="1" dirty="0"/>
              <a:t>Expected Results: </a:t>
            </a:r>
          </a:p>
          <a:p>
            <a:pPr>
              <a:buFont typeface="Arial" panose="020B0604020202020204" pitchFamily="34" charset="0"/>
              <a:buChar char="•"/>
            </a:pPr>
            <a:endParaRPr lang="en-US" sz="1400" b="1" dirty="0"/>
          </a:p>
          <a:p>
            <a:pPr marL="800100" lvl="1" indent="-342900" eaLnBrk="0" fontAlgn="base" hangingPunct="0">
              <a:lnSpc>
                <a:spcPct val="100000"/>
              </a:lnSpc>
              <a:spcBef>
                <a:spcPct val="0"/>
              </a:spcBef>
              <a:spcAft>
                <a:spcPct val="0"/>
              </a:spcAft>
              <a:buClrTx/>
              <a:buSzTx/>
            </a:pPr>
            <a:r>
              <a:rPr lang="en-US" altLang="en-US" sz="2200" dirty="0">
                <a:solidFill>
                  <a:schemeClr val="tx1"/>
                </a:solidFill>
                <a:latin typeface="Bookman Old Style" panose="02050604050505020204" pitchFamily="18" charset="0"/>
              </a:rPr>
              <a:t>Predictive Thermal Management: A working system that anticipates temperature spikes 3-5 seconds in advance, replacing the current reactive throttling model.</a:t>
            </a:r>
          </a:p>
          <a:p>
            <a:pPr marL="800100" lvl="1" indent="-342900" eaLnBrk="0" fontAlgn="base" hangingPunct="0">
              <a:lnSpc>
                <a:spcPct val="100000"/>
              </a:lnSpc>
              <a:spcBef>
                <a:spcPct val="0"/>
              </a:spcBef>
              <a:spcAft>
                <a:spcPct val="0"/>
              </a:spcAft>
              <a:buClrTx/>
              <a:buSzTx/>
            </a:pPr>
            <a:endParaRPr lang="en-US" altLang="en-US" sz="2200" dirty="0">
              <a:solidFill>
                <a:schemeClr val="tx1"/>
              </a:solidFill>
              <a:latin typeface="Bookman Old Style" panose="02050604050505020204" pitchFamily="18" charset="0"/>
            </a:endParaRPr>
          </a:p>
          <a:p>
            <a:pPr marL="800100" lvl="1" indent="-342900" eaLnBrk="0" fontAlgn="base" hangingPunct="0">
              <a:lnSpc>
                <a:spcPct val="100000"/>
              </a:lnSpc>
              <a:spcBef>
                <a:spcPct val="0"/>
              </a:spcBef>
              <a:spcAft>
                <a:spcPct val="0"/>
              </a:spcAft>
              <a:buClrTx/>
              <a:buSzTx/>
            </a:pPr>
            <a:r>
              <a:rPr lang="en-US" altLang="en-US" sz="2200" dirty="0">
                <a:solidFill>
                  <a:schemeClr val="tx1"/>
                </a:solidFill>
                <a:latin typeface="Bookman Old Style" panose="02050604050505020204" pitchFamily="18" charset="0"/>
              </a:rPr>
              <a:t>Enhanced Performance Stability: A measurable reduction in performance stutters and frame rate drops during intensive tasks, leading to a smoother user experience.</a:t>
            </a:r>
          </a:p>
          <a:p>
            <a:pPr marL="800100" lvl="1" indent="-342900" eaLnBrk="0" fontAlgn="base" hangingPunct="0">
              <a:lnSpc>
                <a:spcPct val="100000"/>
              </a:lnSpc>
              <a:spcBef>
                <a:spcPct val="0"/>
              </a:spcBef>
              <a:spcAft>
                <a:spcPct val="0"/>
              </a:spcAft>
              <a:buClrTx/>
              <a:buSzTx/>
            </a:pPr>
            <a:endParaRPr lang="en-US" altLang="en-US" sz="2200" dirty="0">
              <a:solidFill>
                <a:schemeClr val="tx1"/>
              </a:solidFill>
              <a:latin typeface="Bookman Old Style" panose="02050604050505020204" pitchFamily="18" charset="0"/>
            </a:endParaRPr>
          </a:p>
          <a:p>
            <a:pPr marL="800100" lvl="1" indent="-342900" eaLnBrk="0" fontAlgn="base" hangingPunct="0">
              <a:lnSpc>
                <a:spcPct val="100000"/>
              </a:lnSpc>
              <a:spcBef>
                <a:spcPct val="0"/>
              </a:spcBef>
              <a:spcAft>
                <a:spcPct val="0"/>
              </a:spcAft>
              <a:buClrTx/>
              <a:buSzTx/>
            </a:pPr>
            <a:r>
              <a:rPr lang="en-US" altLang="en-US" sz="2200" dirty="0">
                <a:solidFill>
                  <a:schemeClr val="tx1"/>
                </a:solidFill>
                <a:latin typeface="Bookman Old Style" panose="02050604050505020204" pitchFamily="18" charset="0"/>
              </a:rPr>
              <a:t>Improved Power Efficiency: A demonstrable extension of battery life and reduction in overall power consumption through more optimized CPU frequency control.</a:t>
            </a:r>
          </a:p>
          <a:p>
            <a:pPr marL="800100" lvl="1" indent="-342900" eaLnBrk="0" fontAlgn="base" hangingPunct="0">
              <a:lnSpc>
                <a:spcPct val="100000"/>
              </a:lnSpc>
              <a:spcBef>
                <a:spcPct val="0"/>
              </a:spcBef>
              <a:spcAft>
                <a:spcPct val="0"/>
              </a:spcAft>
              <a:buClrTx/>
              <a:buSzTx/>
            </a:pPr>
            <a:endParaRPr lang="en-US" altLang="en-US" sz="2200" dirty="0">
              <a:solidFill>
                <a:schemeClr val="tx1"/>
              </a:solidFill>
              <a:latin typeface="Bookman Old Style" panose="02050604050505020204" pitchFamily="18" charset="0"/>
            </a:endParaRPr>
          </a:p>
          <a:p>
            <a:pPr marL="800100" lvl="1" indent="-342900" eaLnBrk="0" fontAlgn="base" hangingPunct="0">
              <a:lnSpc>
                <a:spcPct val="100000"/>
              </a:lnSpc>
              <a:spcBef>
                <a:spcPct val="0"/>
              </a:spcBef>
              <a:spcAft>
                <a:spcPct val="0"/>
              </a:spcAft>
              <a:buClrTx/>
              <a:buSzTx/>
            </a:pPr>
            <a:r>
              <a:rPr lang="en-US" altLang="en-US" sz="2200" dirty="0">
                <a:solidFill>
                  <a:schemeClr val="tx1"/>
                </a:solidFill>
                <a:latin typeface="Bookman Old Style" panose="02050604050505020204" pitchFamily="18" charset="0"/>
              </a:rPr>
              <a:t>Lower Operating Temperatures: A consistent decrease in peak and average device temperatures, improving user comfort and contributing to long-term hardware reliability.</a:t>
            </a:r>
            <a:endParaRPr lang="en-US" sz="2200" b="1" dirty="0"/>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300162"/>
            <a:ext cx="11842377" cy="5229605"/>
          </a:xfrm>
          <a:prstGeom prst="rect">
            <a:avLst/>
          </a:prstGeom>
          <a:noFill/>
          <a:ln>
            <a:noFill/>
          </a:ln>
        </p:spPr>
        <p:txBody>
          <a:bodyPr spcFirstLastPara="1" wrap="square" lIns="91425" tIns="45700" rIns="91425" bIns="45700" anchor="t" anchorCtr="0">
            <a:norm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IN" b="1" dirty="0"/>
              <a:t>Summary of Key Points: </a:t>
            </a:r>
            <a:endParaRPr lang="en-US" altLang="en-US" sz="1600" dirty="0">
              <a:solidFill>
                <a:schemeClr val="tx1"/>
              </a:solidFill>
              <a:latin typeface="Bookman Old Style" panose="02050604050505020204" pitchFamily="18" charset="0"/>
            </a:endParaRPr>
          </a:p>
          <a:p>
            <a:r>
              <a:rPr lang="en-US" sz="1800" b="1" dirty="0">
                <a:solidFill>
                  <a:schemeClr val="tx1"/>
                </a:solidFill>
              </a:rPr>
              <a:t>Proactive Beats Reactive:</a:t>
            </a:r>
            <a:r>
              <a:rPr lang="en-US" sz="1800" dirty="0">
                <a:solidFill>
                  <a:schemeClr val="tx1"/>
                </a:solidFill>
              </a:rPr>
              <a:t> Shifting from emergency thermal throttling to ML-powered prediction prevents overheating before it starts.</a:t>
            </a:r>
          </a:p>
          <a:p>
            <a:r>
              <a:rPr lang="en-US" sz="1800" b="1" dirty="0">
                <a:solidFill>
                  <a:schemeClr val="tx1"/>
                </a:solidFill>
              </a:rPr>
              <a:t>Performance and Efficiency Unified:</a:t>
            </a:r>
            <a:r>
              <a:rPr lang="en-US" sz="1800" dirty="0">
                <a:solidFill>
                  <a:schemeClr val="tx1"/>
                </a:solidFill>
              </a:rPr>
              <a:t> The solution simultaneously delivers smoother user experience and longer battery life.</a:t>
            </a:r>
          </a:p>
          <a:p>
            <a:r>
              <a:rPr lang="en-US" sz="1800" b="1" dirty="0">
                <a:solidFill>
                  <a:schemeClr val="tx1"/>
                </a:solidFill>
              </a:rPr>
              <a:t>Practical ML Integration:</a:t>
            </a:r>
            <a:r>
              <a:rPr lang="en-US" sz="1800" dirty="0">
                <a:solidFill>
                  <a:schemeClr val="tx1"/>
                </a:solidFill>
              </a:rPr>
              <a:t> A lightweight, real-time model can be effectively embedded into an OS for tangible system-level improvements.</a:t>
            </a:r>
          </a:p>
          <a:p>
            <a:pPr marL="800100" lvl="1" indent="-342900" eaLnBrk="0" fontAlgn="base" hangingPunct="0">
              <a:lnSpc>
                <a:spcPct val="100000"/>
              </a:lnSpc>
              <a:spcBef>
                <a:spcPct val="0"/>
              </a:spcBef>
              <a:spcAft>
                <a:spcPct val="0"/>
              </a:spcAft>
              <a:buClrTx/>
              <a:buSzTx/>
            </a:pPr>
            <a:endParaRPr lang="en-US" altLang="en-US" sz="1800" dirty="0">
              <a:solidFill>
                <a:schemeClr val="tx1"/>
              </a:solidFill>
              <a:latin typeface="Bookman Old Style" panose="02050604050505020204" pitchFamily="18" charset="0"/>
            </a:endParaRPr>
          </a:p>
          <a:p>
            <a:pPr marL="628650" lvl="1" indent="-171450" eaLnBrk="0" fontAlgn="base" hangingPunct="0">
              <a:lnSpc>
                <a:spcPct val="100000"/>
              </a:lnSpc>
              <a:spcBef>
                <a:spcPct val="0"/>
              </a:spcBef>
              <a:spcAft>
                <a:spcPct val="0"/>
              </a:spcAft>
              <a:buClrTx/>
              <a:buSzTx/>
            </a:pPr>
            <a:endParaRPr kumimoji="0" lang="en-US" altLang="en-US" sz="1600" b="0" i="0" u="none" strike="noStrike" cap="none" normalizeH="0" baseline="0" dirty="0">
              <a:ln>
                <a:noFill/>
              </a:ln>
              <a:solidFill>
                <a:schemeClr val="tx1"/>
              </a:solidFill>
              <a:effectLst/>
              <a:latin typeface="Bookman Old Style" panose="02050604050505020204" pitchFamily="18" charset="0"/>
            </a:endParaRPr>
          </a:p>
          <a:p>
            <a:pPr marL="228600" indent="-228600" algn="just">
              <a:spcBef>
                <a:spcPts val="0"/>
              </a:spcBef>
            </a:pPr>
            <a:r>
              <a:rPr lang="en-IN" b="1" dirty="0"/>
              <a:t>Final Thoughts: </a:t>
            </a:r>
            <a:r>
              <a:rPr lang="en-US" sz="1800" dirty="0">
                <a:solidFill>
                  <a:schemeClr val="tx1"/>
                </a:solidFill>
              </a:rPr>
              <a:t>This project demonstrates that intelligent, predictive resource management is the next frontier for enhancing mobile computing. By leveraging simple machine learning, we can move beyond the limitations of reactive algorithms and create devices that are not only more powerful but also smarter and more efficient in their operation.</a:t>
            </a:r>
            <a:br>
              <a:rPr lang="en-US" sz="1800" dirty="0">
                <a:solidFill>
                  <a:schemeClr val="tx1"/>
                </a:solidFill>
              </a:rPr>
            </a:br>
            <a:endParaRPr sz="1800" dirty="0">
              <a:solidFill>
                <a:schemeClr val="tx1"/>
              </a:solidFill>
            </a:endParaRP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981-E8FD-8444-C3D1-D30575168931}"/>
              </a:ext>
            </a:extLst>
          </p:cNvPr>
          <p:cNvSpPr>
            <a:spLocks noGrp="1"/>
          </p:cNvSpPr>
          <p:nvPr>
            <p:ph type="ctrTitle"/>
          </p:nvPr>
        </p:nvSpPr>
        <p:spPr>
          <a:xfrm>
            <a:off x="1702904" y="19878"/>
            <a:ext cx="9144000" cy="889406"/>
          </a:xfrm>
        </p:spPr>
        <p:txBody>
          <a:bodyPr>
            <a:normAutofit/>
          </a:bodyPr>
          <a:lstStyle/>
          <a:p>
            <a:r>
              <a:rPr lang="en-US" sz="4000" b="1" dirty="0">
                <a:solidFill>
                  <a:srgbClr val="C00000"/>
                </a:solidFill>
              </a:rPr>
              <a:t>References</a:t>
            </a:r>
            <a:endParaRPr lang="en-IN" sz="4000" b="1" dirty="0">
              <a:solidFill>
                <a:srgbClr val="C00000"/>
              </a:solidFill>
            </a:endParaRPr>
          </a:p>
        </p:txBody>
      </p:sp>
      <p:sp>
        <p:nvSpPr>
          <p:cNvPr id="3" name="Subtitle 2">
            <a:extLst>
              <a:ext uri="{FF2B5EF4-FFF2-40B4-BE49-F238E27FC236}">
                <a16:creationId xmlns:a16="http://schemas.microsoft.com/office/drawing/2014/main" id="{CEEDD614-C644-F727-5D08-909658E0BF75}"/>
              </a:ext>
            </a:extLst>
          </p:cNvPr>
          <p:cNvSpPr>
            <a:spLocks noGrp="1"/>
          </p:cNvSpPr>
          <p:nvPr>
            <p:ph type="subTitle" idx="1"/>
          </p:nvPr>
        </p:nvSpPr>
        <p:spPr>
          <a:xfrm>
            <a:off x="258417" y="909283"/>
            <a:ext cx="11569147" cy="5447067"/>
          </a:xfrm>
        </p:spPr>
        <p:txBody>
          <a:bodyPr>
            <a:noAutofit/>
          </a:bodyPr>
          <a:lstStyle/>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Donald, J., &amp; Martonosi, M. — 2006: </a:t>
            </a:r>
            <a:r>
              <a:rPr lang="en-US" sz="2000" dirty="0">
                <a:solidFill>
                  <a:schemeClr val="tx1"/>
                </a:solidFill>
                <a:latin typeface="Bookman Old Style" panose="02050604050505020204" pitchFamily="18" charset="0"/>
              </a:rPr>
              <a:t>Techniques for multicore thermal management.</a:t>
            </a:r>
          </a:p>
          <a:p>
            <a:pPr marL="393700" indent="-342900" algn="l">
              <a:buFont typeface="Arial" panose="020B0604020202020204" pitchFamily="34" charset="0"/>
              <a:buChar char="•"/>
            </a:pPr>
            <a:r>
              <a:rPr lang="en-US" sz="2000" b="1" dirty="0" err="1">
                <a:solidFill>
                  <a:schemeClr val="tx1"/>
                </a:solidFill>
                <a:latin typeface="Bookman Old Style" panose="02050604050505020204" pitchFamily="18" charset="0"/>
              </a:rPr>
              <a:t>Skadron</a:t>
            </a:r>
            <a:r>
              <a:rPr lang="en-US" sz="2000" b="1" dirty="0">
                <a:solidFill>
                  <a:schemeClr val="tx1"/>
                </a:solidFill>
                <a:latin typeface="Bookman Old Style" panose="02050604050505020204" pitchFamily="18" charset="0"/>
              </a:rPr>
              <a:t>, K., Stan, M. R., Huang, W., Velusamy, S., Sankaranarayanan, K., &amp; Tarjan, D. — 2003: </a:t>
            </a:r>
            <a:r>
              <a:rPr lang="en-US" sz="2000" dirty="0">
                <a:solidFill>
                  <a:schemeClr val="tx1"/>
                </a:solidFill>
                <a:latin typeface="Bookman Old Style" panose="02050604050505020204" pitchFamily="18" charset="0"/>
              </a:rPr>
              <a:t>Temperature-aware microarchitecture: Modeling and implementation.</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Liao, Z., Kim, T., &amp; Venkataramani, G. — 2018: </a:t>
            </a:r>
            <a:r>
              <a:rPr lang="en-US" sz="2000" dirty="0">
                <a:solidFill>
                  <a:schemeClr val="tx1"/>
                </a:solidFill>
                <a:latin typeface="Bookman Old Style" panose="02050604050505020204" pitchFamily="18" charset="0"/>
              </a:rPr>
              <a:t>An empirical study of thermal throttling and performance stuttering in mobile devices.</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Magaña, E., Martín, M., &amp; Andrade, M. — 2020: </a:t>
            </a:r>
            <a:r>
              <a:rPr lang="en-US" sz="2000" dirty="0">
                <a:solidFill>
                  <a:schemeClr val="tx1"/>
                </a:solidFill>
                <a:latin typeface="Bookman Old Style" panose="02050604050505020204" pitchFamily="18" charset="0"/>
              </a:rPr>
              <a:t>Machine learning-based thermal prediction for mobile SoCs.</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Wang, H., Liu, Q., &amp; Xu, Y. — 2021: </a:t>
            </a:r>
            <a:r>
              <a:rPr lang="en-US" sz="2000" dirty="0">
                <a:solidFill>
                  <a:schemeClr val="tx1"/>
                </a:solidFill>
                <a:latin typeface="Bookman Old Style" panose="02050604050505020204" pitchFamily="18" charset="0"/>
              </a:rPr>
              <a:t>Predictive CPU temperature forecasting for proactive thermal control in smartphones.</a:t>
            </a:r>
          </a:p>
          <a:p>
            <a:pPr marL="393700" indent="-342900" algn="l">
              <a:buFont typeface="Arial" panose="020B0604020202020204" pitchFamily="34" charset="0"/>
              <a:buChar char="•"/>
            </a:pPr>
            <a:r>
              <a:rPr lang="en-US" sz="2000" b="1" dirty="0" err="1">
                <a:solidFill>
                  <a:schemeClr val="tx1"/>
                </a:solidFill>
                <a:latin typeface="Bookman Old Style" panose="02050604050505020204" pitchFamily="18" charset="0"/>
              </a:rPr>
              <a:t>Gniady</a:t>
            </a:r>
            <a:r>
              <a:rPr lang="en-US" sz="2000" b="1" dirty="0">
                <a:solidFill>
                  <a:schemeClr val="tx1"/>
                </a:solidFill>
                <a:latin typeface="Bookman Old Style" panose="02050604050505020204" pitchFamily="18" charset="0"/>
              </a:rPr>
              <a:t>, C., Hu, W., &amp; Zong, M. — 2019: </a:t>
            </a:r>
            <a:r>
              <a:rPr lang="en-US" sz="2000" dirty="0">
                <a:solidFill>
                  <a:schemeClr val="tx1"/>
                </a:solidFill>
                <a:latin typeface="Bookman Old Style" panose="02050604050505020204" pitchFamily="18" charset="0"/>
              </a:rPr>
              <a:t>Proactive power and thermal management using machine learning.</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Islam, F., Ahmed, S., &amp; Lee, J. — 2022: </a:t>
            </a:r>
            <a:r>
              <a:rPr lang="en-US" sz="2000" dirty="0">
                <a:solidFill>
                  <a:schemeClr val="tx1"/>
                </a:solidFill>
                <a:latin typeface="Bookman Old Style" panose="02050604050505020204" pitchFamily="18" charset="0"/>
              </a:rPr>
              <a:t>Lightweight regression models for embedded thermal prediction.</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Project Presentation Source (Student Project Slides) — 2025: </a:t>
            </a:r>
            <a:r>
              <a:rPr lang="en-US" sz="2000" dirty="0">
                <a:solidFill>
                  <a:schemeClr val="tx1"/>
                </a:solidFill>
                <a:latin typeface="Bookman Old Style" panose="02050604050505020204" pitchFamily="18" charset="0"/>
              </a:rPr>
              <a:t>ML-Based Real-Time Thermal Throttling Optimizer</a:t>
            </a:r>
          </a:p>
        </p:txBody>
      </p:sp>
      <p:sp>
        <p:nvSpPr>
          <p:cNvPr id="4" name="Slide Number Placeholder 3">
            <a:extLst>
              <a:ext uri="{FF2B5EF4-FFF2-40B4-BE49-F238E27FC236}">
                <a16:creationId xmlns:a16="http://schemas.microsoft.com/office/drawing/2014/main" id="{E627C4E0-F431-EE71-2795-3E3ABBFEFB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spTree>
    <p:extLst>
      <p:ext uri="{BB962C8B-B14F-4D97-AF65-F5344CB8AC3E}">
        <p14:creationId xmlns:p14="http://schemas.microsoft.com/office/powerpoint/2010/main" val="2514774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D347-1C30-3B3E-0D2A-17FB00CF8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61334-938D-AAE4-BD28-18A94B3828A8}"/>
              </a:ext>
            </a:extLst>
          </p:cNvPr>
          <p:cNvSpPr>
            <a:spLocks noGrp="1"/>
          </p:cNvSpPr>
          <p:nvPr>
            <p:ph type="ctrTitle"/>
          </p:nvPr>
        </p:nvSpPr>
        <p:spPr>
          <a:xfrm>
            <a:off x="1702904" y="19878"/>
            <a:ext cx="9144000" cy="889406"/>
          </a:xfrm>
        </p:spPr>
        <p:txBody>
          <a:bodyPr>
            <a:normAutofit/>
          </a:bodyPr>
          <a:lstStyle/>
          <a:p>
            <a:r>
              <a:rPr lang="en-US" sz="4000" b="1" dirty="0">
                <a:solidFill>
                  <a:srgbClr val="C00000"/>
                </a:solidFill>
              </a:rPr>
              <a:t>References</a:t>
            </a:r>
            <a:endParaRPr lang="en-IN" sz="4000" b="1" dirty="0">
              <a:solidFill>
                <a:srgbClr val="C00000"/>
              </a:solidFill>
            </a:endParaRPr>
          </a:p>
        </p:txBody>
      </p:sp>
      <p:sp>
        <p:nvSpPr>
          <p:cNvPr id="3" name="Subtitle 2">
            <a:extLst>
              <a:ext uri="{FF2B5EF4-FFF2-40B4-BE49-F238E27FC236}">
                <a16:creationId xmlns:a16="http://schemas.microsoft.com/office/drawing/2014/main" id="{FDA8DCD3-9663-E135-BDD7-277352F45BE5}"/>
              </a:ext>
            </a:extLst>
          </p:cNvPr>
          <p:cNvSpPr>
            <a:spLocks noGrp="1"/>
          </p:cNvSpPr>
          <p:nvPr>
            <p:ph type="subTitle" idx="1"/>
          </p:nvPr>
        </p:nvSpPr>
        <p:spPr>
          <a:xfrm>
            <a:off x="258417" y="909283"/>
            <a:ext cx="11569147" cy="5447067"/>
          </a:xfrm>
        </p:spPr>
        <p:txBody>
          <a:bodyPr/>
          <a:lstStyle/>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Zhang, W., Huang, W., &amp; Stan, M. — 2015: </a:t>
            </a:r>
            <a:r>
              <a:rPr lang="en-US" sz="2000" dirty="0">
                <a:solidFill>
                  <a:schemeClr val="tx1"/>
                </a:solidFill>
                <a:latin typeface="Bookman Old Style" panose="02050604050505020204" pitchFamily="18" charset="0"/>
              </a:rPr>
              <a:t>A predictive thermal management system for mobile processors using machine learning.</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Bai, Q., Han, S., &amp; Kim, Y. — 2020: </a:t>
            </a:r>
            <a:r>
              <a:rPr lang="en-US" sz="2000" dirty="0">
                <a:solidFill>
                  <a:schemeClr val="tx1"/>
                </a:solidFill>
                <a:latin typeface="Bookman Old Style" panose="02050604050505020204" pitchFamily="18" charset="0"/>
              </a:rPr>
              <a:t>Dynamic thermal and power management for mobile CPUs using predictive modeling.</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Yang, Y., Lee, S., &amp; Kim, N. — 2019: </a:t>
            </a:r>
            <a:r>
              <a:rPr lang="en-US" sz="2000" dirty="0">
                <a:solidFill>
                  <a:schemeClr val="tx1"/>
                </a:solidFill>
                <a:latin typeface="Bookman Old Style" panose="02050604050505020204" pitchFamily="18" charset="0"/>
              </a:rPr>
              <a:t>Thermal-aware DVFS using regression-based prediction models.</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Choi, J., Park, D., &amp; Chung, E. — 2021: </a:t>
            </a:r>
            <a:r>
              <a:rPr lang="en-US" sz="2000" dirty="0">
                <a:solidFill>
                  <a:schemeClr val="tx1"/>
                </a:solidFill>
                <a:latin typeface="Bookman Old Style" panose="02050604050505020204" pitchFamily="18" charset="0"/>
              </a:rPr>
              <a:t>Real-time thermal prediction for heterogeneous mobile processors using lightweight neural networks.</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Hoffmann, J., &amp; Marinescu, R. — 2018: </a:t>
            </a:r>
            <a:r>
              <a:rPr lang="en-US" sz="2000" dirty="0">
                <a:solidFill>
                  <a:schemeClr val="tx1"/>
                </a:solidFill>
                <a:latin typeface="Bookman Old Style" panose="02050604050505020204" pitchFamily="18" charset="0"/>
              </a:rPr>
              <a:t>Temperature forecasting for energy-efficient CPU frequency control.</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Mittal, S. — 2016: </a:t>
            </a:r>
            <a:r>
              <a:rPr lang="en-US" sz="2000" dirty="0">
                <a:solidFill>
                  <a:schemeClr val="tx1"/>
                </a:solidFill>
                <a:latin typeface="Bookman Old Style" panose="02050604050505020204" pitchFamily="18" charset="0"/>
              </a:rPr>
              <a:t>A survey of techniques for improving energy efficiency in embedded computing systems.</a:t>
            </a:r>
          </a:p>
          <a:p>
            <a:pPr marL="393700" indent="-342900" algn="l">
              <a:buFont typeface="Arial" panose="020B0604020202020204" pitchFamily="34" charset="0"/>
              <a:buChar char="•"/>
            </a:pPr>
            <a:r>
              <a:rPr lang="en-US" sz="2000" b="1" dirty="0">
                <a:solidFill>
                  <a:schemeClr val="tx1"/>
                </a:solidFill>
                <a:latin typeface="Bookman Old Style" panose="02050604050505020204" pitchFamily="18" charset="0"/>
              </a:rPr>
              <a:t>Kumar, P., Singh, M., &amp; Xu, L. — 2023: </a:t>
            </a:r>
            <a:r>
              <a:rPr lang="en-US" sz="2000" dirty="0">
                <a:solidFill>
                  <a:schemeClr val="tx1"/>
                </a:solidFill>
                <a:latin typeface="Bookman Old Style" panose="02050604050505020204" pitchFamily="18" charset="0"/>
              </a:rPr>
              <a:t>Edge-device thermal regulation using hybrid machine learning models.</a:t>
            </a:r>
          </a:p>
          <a:p>
            <a:pPr algn="l">
              <a:buFont typeface="Arial" panose="020B0604020202020204" pitchFamily="34" charset="0"/>
              <a:buChar char="•"/>
            </a:pPr>
            <a:endParaRPr lang="en-IN" dirty="0">
              <a:solidFill>
                <a:schemeClr val="tx1"/>
              </a:solidFill>
              <a:latin typeface="Bookman Old Style" panose="02050604050505020204" pitchFamily="18" charset="0"/>
            </a:endParaRPr>
          </a:p>
        </p:txBody>
      </p:sp>
      <p:sp>
        <p:nvSpPr>
          <p:cNvPr id="4" name="Slide Number Placeholder 3">
            <a:extLst>
              <a:ext uri="{FF2B5EF4-FFF2-40B4-BE49-F238E27FC236}">
                <a16:creationId xmlns:a16="http://schemas.microsoft.com/office/drawing/2014/main" id="{69C3D29B-6213-61AC-5734-1DBA44262A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p:spTree>
    <p:extLst>
      <p:ext uri="{BB962C8B-B14F-4D97-AF65-F5344CB8AC3E}">
        <p14:creationId xmlns:p14="http://schemas.microsoft.com/office/powerpoint/2010/main" val="133246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886</TotalTime>
  <Words>1843</Words>
  <Application>Microsoft Office PowerPoint</Application>
  <PresentationFormat>Widescreen</PresentationFormat>
  <Paragraphs>219</Paragraphs>
  <Slides>17</Slides>
  <Notes>14</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Tools And Techniques Used</vt:lpstr>
      <vt:lpstr>PowerPoint Presentation</vt:lpstr>
      <vt:lpstr>PowerPoint Presentation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Hitesh Bhartia</cp:lastModifiedBy>
  <cp:revision>17</cp:revision>
  <dcterms:created xsi:type="dcterms:W3CDTF">2021-06-02T13:10:21Z</dcterms:created>
  <dcterms:modified xsi:type="dcterms:W3CDTF">2025-12-01T18:07:37Z</dcterms:modified>
</cp:coreProperties>
</file>